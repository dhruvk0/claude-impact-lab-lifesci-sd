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 About 20 seconds</a:t>
            </a:r>
          </a:p>
          <a:p/>
          <a:p>
            <a:r>
              <a:t>Introducing CohortLens: see the patterns, trust the evidence. We're proposing an AI-powered clinical research assistant that helps researchers analyze large batches of patient documents without blindly trusting an AI-generated answer. The core idea is simple: every important finding should be traceable back to the clinical evidence.</a:t>
            </a:r>
          </a:p>
          <a:p/>
          <a:p>
            <a:r>
              <a:t>TRANSITION: Here's why that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 About 35 seconds</a:t>
            </a:r>
          </a:p>
          <a:p/>
          <a:p>
            <a:r>
              <a:t>Clinical research teams often have hundreds or thousands of patient documents to review. The information is spread across notes, lab reports, treatment histories and follow-up records. Manual abstraction is slow, and patient records can be inconsistent or incomplete. Generative AI can help read these files, but it can also mix up patients, misread a value, or confidently claim something the source never said. In research, those mistakes can change the entire conclusion.</a:t>
            </a:r>
          </a:p>
          <a:p/>
          <a:p>
            <a:r>
              <a:t>TRANSITION: CohortLens is designed around that trust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 About 35 seconds</a:t>
            </a:r>
          </a:p>
          <a:p/>
          <a:p>
            <a:r>
              <a:t>With CohortLens, a researcher uploads an approved batch of clinical documents, then asks a question about the patient population in plain English. The system associates documents with patients, extracts structured clinical information, and builds research cohorts. It calculates results using reproducible logic, then lets the researcher inspect the records behind those results. It isn't just summarizing documents: it is turning them into a verifiable research workflow.</a:t>
            </a:r>
          </a:p>
          <a:p/>
          <a:p>
            <a:r>
              <a:t>TRANSITION: Three safeguards make this approach different.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DIFFERENTIATION | About 40 seconds</a:t>
            </a:r>
          </a:p>
          <a:p/>
          <a:p>
            <a:r>
              <a:t>First, evidence traceability: material claims point to the original record, encounter and passage. Second, deterministic analytics: counts, denominators and percentages come from queries or code, not an LLM making up numbers. Third, adversarial review: a separate AI reviewer looks for contradictions, unsupported interpretations and missing context. That reviewer is an additional check, not the final source of truth. When evidence is missing, CohortLens flags uncertainty instead of presenting a confident answer.</a:t>
            </a:r>
          </a:p>
          <a:p/>
          <a:p>
            <a:r>
              <a:t>TRANSITION: Here's how the layers work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 About 40 seconds</a:t>
            </a:r>
          </a:p>
          <a:p/>
          <a:p>
            <a:r>
              <a:t>The workflow starts with approved, securely handled clinical documents. We reconcile patient identities and extract structured facts while preserving source references. Those facts feed a versioned evidence store. A deterministic analytics layer computes cohort measures, while independent checks test claims against records and identify conflicting or insufficient evidence. Only then are results presented, with their sources and caveats. Our objective is measurable risk reduction and auditability, not an impossible guarantee of zero hallucinations.</a:t>
            </a:r>
          </a:p>
          <a:p/>
          <a:p>
            <a:r>
              <a:t>TRANSITION: Let's make that concrete with one example.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 About 45 seconds</a:t>
            </a:r>
          </a:p>
          <a:p/>
          <a:p>
            <a:r>
              <a:t>Imagine uploading one hundred synthetic patient records and asking: among patients receiving Treatment A, how many had a documented adverse event? In this illustrative example, CohortLens identifies forty-eight eligible patients and twelve with a documented event, which is twenty-five percent. More importantly, it flags three conflicting records for review and exposes the source passages that support each classification. The key demo moment is opening one flagged record and showing why the system refuses to silently treat a questionable value as fact. These figures are hypothetical, not real clinical findings.</a:t>
            </a:r>
          </a:p>
          <a:p/>
          <a:p>
            <a:r>
              <a:t>TRANSITION: We can prove this approach with a focused MVP.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CUSTOMERS AND MVP | About 40 seconds</a:t>
            </a:r>
          </a:p>
          <a:p/>
          <a:p>
            <a:r>
              <a:t>Our initial users are clinical research teams at academic medical centers, contract research organizations, and biotech companies. We would start with retrospective cohort review using synthetic or properly de-identified documents. The MVP would support batch upload, patient-level extraction, natural-language cohort queries and evidence-linked results. We would test it against a clinician-reviewed reference dataset, measuring extraction accuracy, cohort-count accuracy, patient-linking errors and how often unsupported claims are caught. The goal is to establish reliability before expanding use cases.</a:t>
            </a:r>
          </a:p>
          <a:p/>
          <a:p>
            <a:r>
              <a:t>TRANSITION: And that leads to our request.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 About 25 seconds</a:t>
            </a:r>
          </a:p>
          <a:p/>
          <a:p>
            <a:r>
              <a:t>CohortLens is not another chatbot that gives researchers a faster answer. It's a clinical research intelligence platform that makes the answer inspectable and challengeable. We are looking for a pilot using synthetic or appropriately de-identified records, along with a clinician-reviewed benchmark to test the verification layer. Our promise is not that AI is infallible. It's that researchers can see the patterns and evaluate the evidence. AI delivers the speed. Evidence verification builds the trust.</a:t>
            </a:r>
          </a:p>
          <a:p/>
          <a:p>
            <a:r>
              <a:t>END: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E0CB"/>
          </a:solidFill>
          <a:ln w="12700">
            <a:solidFill>
              <a:srgbClr val="44E0CB"/>
            </a:solidFill>
            <a:prstDash val="solid"/>
          </a:ln>
        </p:spPr>
      </p:sp>
      <p:sp>
        <p:nvSpPr>
          <p:cNvPr id="3" name="Shape 1"/>
          <p:cNvSpPr/>
          <p:nvPr/>
        </p:nvSpPr>
        <p:spPr>
          <a:xfrm>
            <a:off x="7955280" y="-640080"/>
            <a:ext cx="5303520" cy="8138160"/>
          </a:xfrm>
          <a:prstGeom prst="rect">
            <a:avLst/>
          </a:prstGeom>
          <a:solidFill>
            <a:srgbClr val="132039"/>
          </a:solidFill>
          <a:ln w="12700">
            <a:solidFill>
              <a:srgbClr val="132039"/>
            </a:solidFill>
            <a:prstDash val="solid"/>
          </a:ln>
        </p:spPr>
      </p:sp>
      <p:sp>
        <p:nvSpPr>
          <p:cNvPr id="4" name="Shape 2"/>
          <p:cNvSpPr/>
          <p:nvPr/>
        </p:nvSpPr>
        <p:spPr>
          <a:xfrm>
            <a:off x="8229600" y="731520"/>
            <a:ext cx="3611880" cy="3611880"/>
          </a:xfrm>
          <a:prstGeom prst="ellipse">
            <a:avLst/>
          </a:prstGeom>
          <a:solidFill>
            <a:srgbClr val="132039">
              <a:alpha val="0"/>
            </a:srgbClr>
          </a:solidFill>
          <a:ln w="50800">
            <a:solidFill>
              <a:srgbClr val="44E0CB">
                <a:alpha val="95000"/>
              </a:srgbClr>
            </a:solidFill>
            <a:prstDash val="solid"/>
          </a:ln>
        </p:spPr>
      </p:sp>
      <p:sp>
        <p:nvSpPr>
          <p:cNvPr id="5" name="Shape 3"/>
          <p:cNvSpPr/>
          <p:nvPr/>
        </p:nvSpPr>
        <p:spPr>
          <a:xfrm>
            <a:off x="8942832" y="1444752"/>
            <a:ext cx="2185416" cy="2185416"/>
          </a:xfrm>
          <a:prstGeom prst="ellipse">
            <a:avLst/>
          </a:prstGeom>
          <a:solidFill>
            <a:srgbClr val="132039">
              <a:alpha val="0"/>
            </a:srgbClr>
          </a:solidFill>
          <a:ln w="17780">
            <a:solidFill>
              <a:srgbClr val="44E0CB">
                <a:alpha val="55000"/>
              </a:srgbClr>
            </a:solidFill>
            <a:prstDash val="solid"/>
          </a:ln>
        </p:spPr>
      </p:sp>
      <p:sp>
        <p:nvSpPr>
          <p:cNvPr id="6" name="Shape 4"/>
          <p:cNvSpPr/>
          <p:nvPr/>
        </p:nvSpPr>
        <p:spPr>
          <a:xfrm>
            <a:off x="10424160" y="3977640"/>
            <a:ext cx="1143000" cy="1188720"/>
          </a:xfrm>
          <a:prstGeom prst="line">
            <a:avLst/>
          </a:prstGeom>
          <a:noFill/>
          <a:ln w="203200">
            <a:solidFill>
              <a:srgbClr val="44E0CB"/>
            </a:solidFill>
            <a:prstDash val="solid"/>
            <a:headEnd type="none"/>
          </a:ln>
        </p:spPr>
      </p:sp>
      <p:sp>
        <p:nvSpPr>
          <p:cNvPr id="7" name="Text 5"/>
          <p:cNvSpPr/>
          <p:nvPr/>
        </p:nvSpPr>
        <p:spPr>
          <a:xfrm>
            <a:off x="731520" y="1371600"/>
            <a:ext cx="7406640" cy="731520"/>
          </a:xfrm>
          <a:prstGeom prst="rect">
            <a:avLst/>
          </a:prstGeom>
          <a:noFill/>
          <a:ln/>
        </p:spPr>
        <p:txBody>
          <a:bodyPr wrap="square" lIns="0" tIns="0" rIns="0" bIns="0" rtlCol="0" anchor="ctr"/>
          <a:lstStyle/>
          <a:p>
            <a:pPr indent="0" marL="0">
              <a:buNone/>
            </a:pPr>
            <a:r>
              <a:rPr lang="en-US" sz="5400" b="1" spc="100" kern="0" dirty="0">
                <a:solidFill>
                  <a:srgbClr val="F4F7FB"/>
                </a:solidFill>
                <a:latin typeface="Aptos" pitchFamily="34" charset="0"/>
                <a:ea typeface="Aptos" pitchFamily="34" charset="-122"/>
                <a:cs typeface="Aptos" pitchFamily="34" charset="-120"/>
              </a:rPr>
              <a:t>COHORT</a:t>
            </a:r>
            <a:endParaRPr lang="en-US" sz="5400" dirty="0"/>
          </a:p>
        </p:txBody>
      </p:sp>
      <p:sp>
        <p:nvSpPr>
          <p:cNvPr id="8" name="Text 6"/>
          <p:cNvSpPr/>
          <p:nvPr/>
        </p:nvSpPr>
        <p:spPr>
          <a:xfrm>
            <a:off x="731520" y="2148840"/>
            <a:ext cx="6583680" cy="822960"/>
          </a:xfrm>
          <a:prstGeom prst="rect">
            <a:avLst/>
          </a:prstGeom>
          <a:noFill/>
          <a:ln/>
        </p:spPr>
        <p:txBody>
          <a:bodyPr wrap="square" lIns="0" tIns="0" rIns="0" bIns="0" rtlCol="0" anchor="ctr"/>
          <a:lstStyle/>
          <a:p>
            <a:pPr indent="0" marL="0">
              <a:buNone/>
            </a:pPr>
            <a:r>
              <a:rPr lang="en-US" sz="5800" b="1" spc="200" kern="0" dirty="0">
                <a:solidFill>
                  <a:srgbClr val="44E0CB"/>
                </a:solidFill>
                <a:latin typeface="Aptos" pitchFamily="34" charset="0"/>
                <a:ea typeface="Aptos" pitchFamily="34" charset="-122"/>
                <a:cs typeface="Aptos" pitchFamily="34" charset="-120"/>
              </a:rPr>
              <a:t>LENS</a:t>
            </a:r>
            <a:endParaRPr lang="en-US" sz="5800" dirty="0"/>
          </a:p>
        </p:txBody>
      </p:sp>
      <p:sp>
        <p:nvSpPr>
          <p:cNvPr id="9" name="Text 7"/>
          <p:cNvSpPr/>
          <p:nvPr/>
        </p:nvSpPr>
        <p:spPr>
          <a:xfrm>
            <a:off x="777240" y="3273552"/>
            <a:ext cx="7680960" cy="640080"/>
          </a:xfrm>
          <a:prstGeom prst="rect">
            <a:avLst/>
          </a:prstGeom>
          <a:noFill/>
          <a:ln/>
        </p:spPr>
        <p:txBody>
          <a:bodyPr wrap="square" lIns="0" tIns="0" rIns="0" bIns="0" rtlCol="0" anchor="ctr"/>
          <a:lstStyle/>
          <a:p>
            <a:pPr indent="0" marL="0">
              <a:buNone/>
            </a:pPr>
            <a:r>
              <a:rPr lang="en-US" sz="2400" dirty="0">
                <a:solidFill>
                  <a:srgbClr val="F4F7FB"/>
                </a:solidFill>
                <a:latin typeface="Aptos" pitchFamily="34" charset="0"/>
                <a:ea typeface="Aptos" pitchFamily="34" charset="-122"/>
                <a:cs typeface="Aptos" pitchFamily="34" charset="-120"/>
              </a:rPr>
              <a:t>See the patterns. Trust the evidence.</a:t>
            </a:r>
            <a:endParaRPr lang="en-US" sz="2400" dirty="0"/>
          </a:p>
        </p:txBody>
      </p:sp>
      <p:sp>
        <p:nvSpPr>
          <p:cNvPr id="10" name="Text 8"/>
          <p:cNvSpPr/>
          <p:nvPr/>
        </p:nvSpPr>
        <p:spPr>
          <a:xfrm>
            <a:off x="777240" y="4133088"/>
            <a:ext cx="7223760" cy="502920"/>
          </a:xfrm>
          <a:prstGeom prst="rect">
            <a:avLst/>
          </a:prstGeom>
          <a:noFill/>
          <a:ln/>
        </p:spPr>
        <p:txBody>
          <a:bodyPr wrap="square" lIns="0" tIns="0" rIns="0" bIns="0" rtlCol="0" anchor="ctr"/>
          <a:lstStyle/>
          <a:p>
            <a:pPr indent="0" marL="0">
              <a:buNone/>
            </a:pPr>
            <a:r>
              <a:rPr lang="en-US" sz="1700" dirty="0">
                <a:solidFill>
                  <a:srgbClr val="A6B6CB"/>
                </a:solidFill>
                <a:latin typeface="Aptos" pitchFamily="34" charset="0"/>
                <a:ea typeface="Aptos" pitchFamily="34" charset="-122"/>
                <a:cs typeface="Aptos" pitchFamily="34" charset="-120"/>
              </a:rPr>
              <a:t>Evidence-verified clinical research intelligence</a:t>
            </a:r>
            <a:endParaRPr lang="en-US" sz="1700" dirty="0"/>
          </a:p>
        </p:txBody>
      </p:sp>
      <p:sp>
        <p:nvSpPr>
          <p:cNvPr id="11" name="Shape 9"/>
          <p:cNvSpPr/>
          <p:nvPr/>
        </p:nvSpPr>
        <p:spPr>
          <a:xfrm>
            <a:off x="777240" y="5276088"/>
            <a:ext cx="2651760" cy="347472"/>
          </a:xfrm>
          <a:prstGeom prst="roundRect">
            <a:avLst>
              <a:gd name="adj" fmla="val 39474"/>
            </a:avLst>
          </a:prstGeom>
          <a:solidFill>
            <a:srgbClr val="132039"/>
          </a:solidFill>
          <a:ln w="12700">
            <a:solidFill>
              <a:srgbClr val="132039"/>
            </a:solidFill>
            <a:prstDash val="solid"/>
          </a:ln>
        </p:spPr>
      </p:sp>
      <p:sp>
        <p:nvSpPr>
          <p:cNvPr id="12" name="Text 10"/>
          <p:cNvSpPr/>
          <p:nvPr/>
        </p:nvSpPr>
        <p:spPr>
          <a:xfrm>
            <a:off x="886968" y="5308092"/>
            <a:ext cx="2432304" cy="237744"/>
          </a:xfrm>
          <a:prstGeom prst="rect">
            <a:avLst/>
          </a:prstGeom>
          <a:noFill/>
          <a:ln/>
        </p:spPr>
        <p:txBody>
          <a:bodyPr wrap="square" lIns="0" tIns="0" rIns="0" bIns="0" rtlCol="0" anchor="ctr"/>
          <a:lstStyle/>
          <a:p>
            <a:pPr algn="ctr" indent="0" marL="0">
              <a:buNone/>
            </a:pPr>
            <a:r>
              <a:rPr lang="en-US" sz="1100" b="1" dirty="0">
                <a:solidFill>
                  <a:srgbClr val="44E0CB"/>
                </a:solidFill>
                <a:latin typeface="Aptos" pitchFamily="34" charset="0"/>
                <a:ea typeface="Aptos" pitchFamily="34" charset="-122"/>
                <a:cs typeface="Aptos" pitchFamily="34" charset="-120"/>
              </a:rPr>
              <a:t>CONCEPT / PROPOSED MVP</a:t>
            </a:r>
            <a:endParaRPr lang="en-US" sz="1100" dirty="0"/>
          </a:p>
        </p:txBody>
      </p:sp>
      <p:sp>
        <p:nvSpPr>
          <p:cNvPr id="13" name="Text 11"/>
          <p:cNvSpPr/>
          <p:nvPr/>
        </p:nvSpPr>
        <p:spPr>
          <a:xfrm>
            <a:off x="777240" y="6419088"/>
            <a:ext cx="6400800" cy="182880"/>
          </a:xfrm>
          <a:prstGeom prst="rect">
            <a:avLst/>
          </a:prstGeom>
          <a:noFill/>
          <a:ln/>
        </p:spPr>
        <p:txBody>
          <a:bodyPr wrap="square" lIns="0" tIns="0" rIns="0" bIns="0" rtlCol="0" anchor="ctr"/>
          <a:lstStyle/>
          <a:p>
            <a:pPr indent="0" marL="0">
              <a:buNone/>
            </a:pPr>
            <a:r>
              <a:rPr lang="en-US" sz="1000" dirty="0">
                <a:solidFill>
                  <a:srgbClr val="A6B6CB"/>
                </a:solidFill>
                <a:latin typeface="Aptos" pitchFamily="34" charset="0"/>
                <a:ea typeface="Aptos" pitchFamily="34" charset="-122"/>
                <a:cs typeface="Aptos" pitchFamily="34" charset="-120"/>
              </a:rPr>
              <a:t>Product pitch  •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01 / PROBLEM</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Clinical records are rich. Research workflows are fragmented.</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Unstructured documentation creates bottlenecks and makes AI-generated findings difficult to trust.</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02</a:t>
            </a:r>
            <a:endParaRPr lang="en-US" sz="1000" dirty="0"/>
          </a:p>
        </p:txBody>
      </p:sp>
      <p:sp>
        <p:nvSpPr>
          <p:cNvPr id="9" name="Shape 7"/>
          <p:cNvSpPr/>
          <p:nvPr/>
        </p:nvSpPr>
        <p:spPr>
          <a:xfrm>
            <a:off x="594360" y="2249424"/>
            <a:ext cx="3547872" cy="2880360"/>
          </a:xfrm>
          <a:prstGeom prst="roundRect">
            <a:avLst>
              <a:gd name="adj" fmla="val 5079"/>
            </a:avLst>
          </a:prstGeom>
          <a:solidFill>
            <a:srgbClr val="172640"/>
          </a:solidFill>
          <a:ln w="12700">
            <a:solidFill>
              <a:srgbClr val="172640"/>
            </a:solidFill>
            <a:prstDash val="solid"/>
          </a:ln>
        </p:spPr>
      </p:sp>
      <p:sp>
        <p:nvSpPr>
          <p:cNvPr id="10" name="Shape 8"/>
          <p:cNvSpPr/>
          <p:nvPr/>
        </p:nvSpPr>
        <p:spPr>
          <a:xfrm>
            <a:off x="594360" y="2249424"/>
            <a:ext cx="54864" cy="2880360"/>
          </a:xfrm>
          <a:prstGeom prst="rect">
            <a:avLst/>
          </a:prstGeom>
          <a:solidFill>
            <a:srgbClr val="44E0CB"/>
          </a:solidFill>
          <a:ln w="12700">
            <a:solidFill>
              <a:srgbClr val="44E0CB"/>
            </a:solidFill>
            <a:prstDash val="solid"/>
          </a:ln>
        </p:spPr>
      </p:sp>
      <p:sp>
        <p:nvSpPr>
          <p:cNvPr id="11" name="Text 9"/>
          <p:cNvSpPr/>
          <p:nvPr/>
        </p:nvSpPr>
        <p:spPr>
          <a:xfrm>
            <a:off x="813816" y="2450592"/>
            <a:ext cx="3127248"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Too much manual work</a:t>
            </a:r>
            <a:endParaRPr lang="en-US" sz="1900" dirty="0"/>
          </a:p>
        </p:txBody>
      </p:sp>
      <p:sp>
        <p:nvSpPr>
          <p:cNvPr id="12" name="Text 10"/>
          <p:cNvSpPr/>
          <p:nvPr/>
        </p:nvSpPr>
        <p:spPr>
          <a:xfrm>
            <a:off x="813816" y="2953512"/>
            <a:ext cx="3118104" cy="203911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Researchers must read, reconcile, and abstract information across many documents and encounters.</a:t>
            </a:r>
            <a:endParaRPr lang="en-US" sz="1300" dirty="0"/>
          </a:p>
        </p:txBody>
      </p:sp>
      <p:sp>
        <p:nvSpPr>
          <p:cNvPr id="13" name="Shape 11"/>
          <p:cNvSpPr/>
          <p:nvPr/>
        </p:nvSpPr>
        <p:spPr>
          <a:xfrm>
            <a:off x="4325112" y="2249424"/>
            <a:ext cx="3547872" cy="2880360"/>
          </a:xfrm>
          <a:prstGeom prst="roundRect">
            <a:avLst>
              <a:gd name="adj" fmla="val 5079"/>
            </a:avLst>
          </a:prstGeom>
          <a:solidFill>
            <a:srgbClr val="172640"/>
          </a:solidFill>
          <a:ln w="12700">
            <a:solidFill>
              <a:srgbClr val="172640"/>
            </a:solidFill>
            <a:prstDash val="solid"/>
          </a:ln>
        </p:spPr>
      </p:sp>
      <p:sp>
        <p:nvSpPr>
          <p:cNvPr id="14" name="Shape 12"/>
          <p:cNvSpPr/>
          <p:nvPr/>
        </p:nvSpPr>
        <p:spPr>
          <a:xfrm>
            <a:off x="4325112" y="2249424"/>
            <a:ext cx="54864" cy="2880360"/>
          </a:xfrm>
          <a:prstGeom prst="rect">
            <a:avLst/>
          </a:prstGeom>
          <a:solidFill>
            <a:srgbClr val="FFBC75"/>
          </a:solidFill>
          <a:ln w="12700">
            <a:solidFill>
              <a:srgbClr val="FFBC75"/>
            </a:solidFill>
            <a:prstDash val="solid"/>
          </a:ln>
        </p:spPr>
      </p:sp>
      <p:sp>
        <p:nvSpPr>
          <p:cNvPr id="15" name="Text 13"/>
          <p:cNvSpPr/>
          <p:nvPr/>
        </p:nvSpPr>
        <p:spPr>
          <a:xfrm>
            <a:off x="4544568" y="2450592"/>
            <a:ext cx="3127248"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Hard to compare patients</a:t>
            </a:r>
            <a:endParaRPr lang="en-US" sz="1900" dirty="0"/>
          </a:p>
        </p:txBody>
      </p:sp>
      <p:sp>
        <p:nvSpPr>
          <p:cNvPr id="16" name="Text 14"/>
          <p:cNvSpPr/>
          <p:nvPr/>
        </p:nvSpPr>
        <p:spPr>
          <a:xfrm>
            <a:off x="4544568" y="2953512"/>
            <a:ext cx="3118104" cy="203911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Inconsistent language, missing values, duplicate records, and temporal ambiguity complicate cohort analysis.</a:t>
            </a:r>
            <a:endParaRPr lang="en-US" sz="1300" dirty="0"/>
          </a:p>
        </p:txBody>
      </p:sp>
      <p:sp>
        <p:nvSpPr>
          <p:cNvPr id="17" name="Shape 15"/>
          <p:cNvSpPr/>
          <p:nvPr/>
        </p:nvSpPr>
        <p:spPr>
          <a:xfrm>
            <a:off x="8055864" y="2249424"/>
            <a:ext cx="3547872" cy="2880360"/>
          </a:xfrm>
          <a:prstGeom prst="roundRect">
            <a:avLst>
              <a:gd name="adj" fmla="val 5079"/>
            </a:avLst>
          </a:prstGeom>
          <a:solidFill>
            <a:srgbClr val="172640"/>
          </a:solidFill>
          <a:ln w="12700">
            <a:solidFill>
              <a:srgbClr val="172640"/>
            </a:solidFill>
            <a:prstDash val="solid"/>
          </a:ln>
        </p:spPr>
      </p:sp>
      <p:sp>
        <p:nvSpPr>
          <p:cNvPr id="18" name="Shape 16"/>
          <p:cNvSpPr/>
          <p:nvPr/>
        </p:nvSpPr>
        <p:spPr>
          <a:xfrm>
            <a:off x="8055864" y="2249424"/>
            <a:ext cx="54864" cy="2880360"/>
          </a:xfrm>
          <a:prstGeom prst="rect">
            <a:avLst/>
          </a:prstGeom>
          <a:solidFill>
            <a:srgbClr val="FF7285"/>
          </a:solidFill>
          <a:ln w="12700">
            <a:solidFill>
              <a:srgbClr val="FF7285"/>
            </a:solidFill>
            <a:prstDash val="solid"/>
          </a:ln>
        </p:spPr>
      </p:sp>
      <p:sp>
        <p:nvSpPr>
          <p:cNvPr id="19" name="Text 17"/>
          <p:cNvSpPr/>
          <p:nvPr/>
        </p:nvSpPr>
        <p:spPr>
          <a:xfrm>
            <a:off x="8275320" y="2450592"/>
            <a:ext cx="3127248"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AI can be wrong</a:t>
            </a:r>
            <a:endParaRPr lang="en-US" sz="1900" dirty="0"/>
          </a:p>
        </p:txBody>
      </p:sp>
      <p:sp>
        <p:nvSpPr>
          <p:cNvPr id="20" name="Text 18"/>
          <p:cNvSpPr/>
          <p:nvPr/>
        </p:nvSpPr>
        <p:spPr>
          <a:xfrm>
            <a:off x="8275320" y="2953512"/>
            <a:ext cx="3118104" cy="203911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Models may invent facts, conflate patients, misread evidence, or report unsupported clinical conclusions.</a:t>
            </a:r>
            <a:endParaRPr lang="en-US" sz="1300" dirty="0"/>
          </a:p>
        </p:txBody>
      </p:sp>
      <p:sp>
        <p:nvSpPr>
          <p:cNvPr id="21" name="Text 19"/>
          <p:cNvSpPr/>
          <p:nvPr/>
        </p:nvSpPr>
        <p:spPr>
          <a:xfrm>
            <a:off x="713232" y="5605272"/>
            <a:ext cx="10881360" cy="530352"/>
          </a:xfrm>
          <a:prstGeom prst="rect">
            <a:avLst/>
          </a:prstGeom>
          <a:noFill/>
          <a:ln/>
        </p:spPr>
        <p:txBody>
          <a:bodyPr wrap="square" lIns="0" tIns="0" rIns="0" bIns="0" rtlCol="0" anchor="ctr"/>
          <a:lstStyle/>
          <a:p>
            <a:pPr algn="ctr" indent="0" marL="0">
              <a:buNone/>
            </a:pPr>
            <a:r>
              <a:rPr lang="en-US" sz="1700" b="1" dirty="0">
                <a:solidFill>
                  <a:srgbClr val="F4F7FB"/>
                </a:solidFill>
                <a:latin typeface="Aptos" pitchFamily="34" charset="0"/>
                <a:ea typeface="Aptos" pitchFamily="34" charset="-122"/>
                <a:cs typeface="Aptos" pitchFamily="34" charset="-120"/>
              </a:rPr>
              <a:t>The opportunity: accelerate analysis without sacrificing provenance, reproducibility, or scientific judgment.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02 / SOLUTION</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From clinical documents to verified cohort insights.</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Upload approved patient-record batches, ask research questions, and inspect the evidence behind results.</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03</a:t>
            </a:r>
            <a:endParaRPr lang="en-US" sz="1000" dirty="0"/>
          </a:p>
        </p:txBody>
      </p:sp>
      <p:sp>
        <p:nvSpPr>
          <p:cNvPr id="9" name="Shape 7"/>
          <p:cNvSpPr/>
          <p:nvPr/>
        </p:nvSpPr>
        <p:spPr>
          <a:xfrm>
            <a:off x="667512" y="2313432"/>
            <a:ext cx="2697480" cy="2935224"/>
          </a:xfrm>
          <a:prstGeom prst="roundRect">
            <a:avLst>
              <a:gd name="adj" fmla="val 5424"/>
            </a:avLst>
          </a:prstGeom>
          <a:solidFill>
            <a:srgbClr val="172640"/>
          </a:solidFill>
          <a:ln w="12700">
            <a:solidFill>
              <a:srgbClr val="172640"/>
            </a:solidFill>
            <a:prstDash val="solid"/>
          </a:ln>
        </p:spPr>
      </p:sp>
      <p:sp>
        <p:nvSpPr>
          <p:cNvPr id="10" name="Text 8"/>
          <p:cNvSpPr/>
          <p:nvPr/>
        </p:nvSpPr>
        <p:spPr>
          <a:xfrm>
            <a:off x="832104" y="2496312"/>
            <a:ext cx="411480" cy="502920"/>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1</a:t>
            </a:r>
            <a:endParaRPr lang="en-US" sz="3000" dirty="0"/>
          </a:p>
        </p:txBody>
      </p:sp>
      <p:sp>
        <p:nvSpPr>
          <p:cNvPr id="11" name="Text 9"/>
          <p:cNvSpPr/>
          <p:nvPr/>
        </p:nvSpPr>
        <p:spPr>
          <a:xfrm>
            <a:off x="850392" y="3108960"/>
            <a:ext cx="2286000" cy="329184"/>
          </a:xfrm>
          <a:prstGeom prst="rect">
            <a:avLst/>
          </a:prstGeom>
          <a:noFill/>
          <a:ln/>
        </p:spPr>
        <p:txBody>
          <a:bodyPr wrap="square" lIns="0" tIns="0" rIns="0" bIns="0" rtlCol="0" anchor="ctr"/>
          <a:lstStyle/>
          <a:p>
            <a:pPr indent="0" marL="0">
              <a:buNone/>
            </a:pPr>
            <a:r>
              <a:rPr lang="en-US" sz="1600" b="1" spc="100" kern="0" dirty="0">
                <a:solidFill>
                  <a:srgbClr val="F4F7FB"/>
                </a:solidFill>
                <a:latin typeface="Aptos" pitchFamily="34" charset="0"/>
                <a:ea typeface="Aptos" pitchFamily="34" charset="-122"/>
                <a:cs typeface="Aptos" pitchFamily="34" charset="-120"/>
              </a:rPr>
              <a:t>INGEST</a:t>
            </a:r>
            <a:endParaRPr lang="en-US" sz="1600" dirty="0"/>
          </a:p>
        </p:txBody>
      </p:sp>
      <p:sp>
        <p:nvSpPr>
          <p:cNvPr id="12" name="Text 10"/>
          <p:cNvSpPr/>
          <p:nvPr/>
        </p:nvSpPr>
        <p:spPr>
          <a:xfrm>
            <a:off x="850392" y="3621024"/>
            <a:ext cx="2313432" cy="1325880"/>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Secure document upload, classification, and patient-level reconciliation</a:t>
            </a:r>
            <a:endParaRPr lang="en-US" sz="1300" dirty="0"/>
          </a:p>
        </p:txBody>
      </p:sp>
      <p:sp>
        <p:nvSpPr>
          <p:cNvPr id="13" name="Text 11"/>
          <p:cNvSpPr/>
          <p:nvPr/>
        </p:nvSpPr>
        <p:spPr>
          <a:xfrm>
            <a:off x="3328416" y="3419856"/>
            <a:ext cx="320040" cy="384048"/>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a:t>
            </a:r>
            <a:endParaRPr lang="en-US" sz="3000" dirty="0"/>
          </a:p>
        </p:txBody>
      </p:sp>
      <p:sp>
        <p:nvSpPr>
          <p:cNvPr id="14" name="Shape 12"/>
          <p:cNvSpPr/>
          <p:nvPr/>
        </p:nvSpPr>
        <p:spPr>
          <a:xfrm>
            <a:off x="3575304" y="2313432"/>
            <a:ext cx="2697480" cy="2935224"/>
          </a:xfrm>
          <a:prstGeom prst="roundRect">
            <a:avLst>
              <a:gd name="adj" fmla="val 5424"/>
            </a:avLst>
          </a:prstGeom>
          <a:solidFill>
            <a:srgbClr val="172640"/>
          </a:solidFill>
          <a:ln w="12700">
            <a:solidFill>
              <a:srgbClr val="172640"/>
            </a:solidFill>
            <a:prstDash val="solid"/>
          </a:ln>
        </p:spPr>
      </p:sp>
      <p:sp>
        <p:nvSpPr>
          <p:cNvPr id="15" name="Text 13"/>
          <p:cNvSpPr/>
          <p:nvPr/>
        </p:nvSpPr>
        <p:spPr>
          <a:xfrm>
            <a:off x="3739896" y="2496312"/>
            <a:ext cx="411480" cy="502920"/>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2</a:t>
            </a:r>
            <a:endParaRPr lang="en-US" sz="3000" dirty="0"/>
          </a:p>
        </p:txBody>
      </p:sp>
      <p:sp>
        <p:nvSpPr>
          <p:cNvPr id="16" name="Text 14"/>
          <p:cNvSpPr/>
          <p:nvPr/>
        </p:nvSpPr>
        <p:spPr>
          <a:xfrm>
            <a:off x="3758184" y="3108960"/>
            <a:ext cx="2286000" cy="329184"/>
          </a:xfrm>
          <a:prstGeom prst="rect">
            <a:avLst/>
          </a:prstGeom>
          <a:noFill/>
          <a:ln/>
        </p:spPr>
        <p:txBody>
          <a:bodyPr wrap="square" lIns="0" tIns="0" rIns="0" bIns="0" rtlCol="0" anchor="ctr"/>
          <a:lstStyle/>
          <a:p>
            <a:pPr indent="0" marL="0">
              <a:buNone/>
            </a:pPr>
            <a:r>
              <a:rPr lang="en-US" sz="1600" b="1" spc="100" kern="0" dirty="0">
                <a:solidFill>
                  <a:srgbClr val="F4F7FB"/>
                </a:solidFill>
                <a:latin typeface="Aptos" pitchFamily="34" charset="0"/>
                <a:ea typeface="Aptos" pitchFamily="34" charset="-122"/>
                <a:cs typeface="Aptos" pitchFamily="34" charset="-120"/>
              </a:rPr>
              <a:t>STRUCTURE</a:t>
            </a:r>
            <a:endParaRPr lang="en-US" sz="1600" dirty="0"/>
          </a:p>
        </p:txBody>
      </p:sp>
      <p:sp>
        <p:nvSpPr>
          <p:cNvPr id="17" name="Text 15"/>
          <p:cNvSpPr/>
          <p:nvPr/>
        </p:nvSpPr>
        <p:spPr>
          <a:xfrm>
            <a:off x="3758184" y="3621024"/>
            <a:ext cx="2313432" cy="1325880"/>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Extract clinical events, diagnoses, treatments, lab results, and outcomes</a:t>
            </a:r>
            <a:endParaRPr lang="en-US" sz="1300" dirty="0"/>
          </a:p>
        </p:txBody>
      </p:sp>
      <p:sp>
        <p:nvSpPr>
          <p:cNvPr id="18" name="Text 16"/>
          <p:cNvSpPr/>
          <p:nvPr/>
        </p:nvSpPr>
        <p:spPr>
          <a:xfrm>
            <a:off x="6236208" y="3419856"/>
            <a:ext cx="320040" cy="384048"/>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a:t>
            </a:r>
            <a:endParaRPr lang="en-US" sz="3000" dirty="0"/>
          </a:p>
        </p:txBody>
      </p:sp>
      <p:sp>
        <p:nvSpPr>
          <p:cNvPr id="19" name="Shape 17"/>
          <p:cNvSpPr/>
          <p:nvPr/>
        </p:nvSpPr>
        <p:spPr>
          <a:xfrm>
            <a:off x="6483096" y="2313432"/>
            <a:ext cx="2697480" cy="2935224"/>
          </a:xfrm>
          <a:prstGeom prst="roundRect">
            <a:avLst>
              <a:gd name="adj" fmla="val 5424"/>
            </a:avLst>
          </a:prstGeom>
          <a:solidFill>
            <a:srgbClr val="172640"/>
          </a:solidFill>
          <a:ln w="12700">
            <a:solidFill>
              <a:srgbClr val="172640"/>
            </a:solidFill>
            <a:prstDash val="solid"/>
          </a:ln>
        </p:spPr>
      </p:sp>
      <p:sp>
        <p:nvSpPr>
          <p:cNvPr id="20" name="Text 18"/>
          <p:cNvSpPr/>
          <p:nvPr/>
        </p:nvSpPr>
        <p:spPr>
          <a:xfrm>
            <a:off x="6647688" y="2496312"/>
            <a:ext cx="411480" cy="502920"/>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3</a:t>
            </a:r>
            <a:endParaRPr lang="en-US" sz="3000" dirty="0"/>
          </a:p>
        </p:txBody>
      </p:sp>
      <p:sp>
        <p:nvSpPr>
          <p:cNvPr id="21" name="Text 19"/>
          <p:cNvSpPr/>
          <p:nvPr/>
        </p:nvSpPr>
        <p:spPr>
          <a:xfrm>
            <a:off x="6665976" y="3108960"/>
            <a:ext cx="2286000" cy="329184"/>
          </a:xfrm>
          <a:prstGeom prst="rect">
            <a:avLst/>
          </a:prstGeom>
          <a:noFill/>
          <a:ln/>
        </p:spPr>
        <p:txBody>
          <a:bodyPr wrap="square" lIns="0" tIns="0" rIns="0" bIns="0" rtlCol="0" anchor="ctr"/>
          <a:lstStyle/>
          <a:p>
            <a:pPr indent="0" marL="0">
              <a:buNone/>
            </a:pPr>
            <a:r>
              <a:rPr lang="en-US" sz="1600" b="1" spc="100" kern="0" dirty="0">
                <a:solidFill>
                  <a:srgbClr val="F4F7FB"/>
                </a:solidFill>
                <a:latin typeface="Aptos" pitchFamily="34" charset="0"/>
                <a:ea typeface="Aptos" pitchFamily="34" charset="-122"/>
                <a:cs typeface="Aptos" pitchFamily="34" charset="-120"/>
              </a:rPr>
              <a:t>ANALYZE</a:t>
            </a:r>
            <a:endParaRPr lang="en-US" sz="1600" dirty="0"/>
          </a:p>
        </p:txBody>
      </p:sp>
      <p:sp>
        <p:nvSpPr>
          <p:cNvPr id="22" name="Text 20"/>
          <p:cNvSpPr/>
          <p:nvPr/>
        </p:nvSpPr>
        <p:spPr>
          <a:xfrm>
            <a:off x="6665976" y="3621024"/>
            <a:ext cx="2313432" cy="1325880"/>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Build cohorts and calculate reproducible results using structured queries</a:t>
            </a:r>
            <a:endParaRPr lang="en-US" sz="1300" dirty="0"/>
          </a:p>
        </p:txBody>
      </p:sp>
      <p:sp>
        <p:nvSpPr>
          <p:cNvPr id="23" name="Text 21"/>
          <p:cNvSpPr/>
          <p:nvPr/>
        </p:nvSpPr>
        <p:spPr>
          <a:xfrm>
            <a:off x="9144000" y="3419856"/>
            <a:ext cx="320040" cy="384048"/>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a:t>
            </a:r>
            <a:endParaRPr lang="en-US" sz="3000" dirty="0"/>
          </a:p>
        </p:txBody>
      </p:sp>
      <p:sp>
        <p:nvSpPr>
          <p:cNvPr id="24" name="Shape 22"/>
          <p:cNvSpPr/>
          <p:nvPr/>
        </p:nvSpPr>
        <p:spPr>
          <a:xfrm>
            <a:off x="9390888" y="2313432"/>
            <a:ext cx="2697480" cy="2935224"/>
          </a:xfrm>
          <a:prstGeom prst="roundRect">
            <a:avLst>
              <a:gd name="adj" fmla="val 5424"/>
            </a:avLst>
          </a:prstGeom>
          <a:solidFill>
            <a:srgbClr val="172640"/>
          </a:solidFill>
          <a:ln w="12700">
            <a:solidFill>
              <a:srgbClr val="172640"/>
            </a:solidFill>
            <a:prstDash val="solid"/>
          </a:ln>
        </p:spPr>
      </p:sp>
      <p:sp>
        <p:nvSpPr>
          <p:cNvPr id="25" name="Text 23"/>
          <p:cNvSpPr/>
          <p:nvPr/>
        </p:nvSpPr>
        <p:spPr>
          <a:xfrm>
            <a:off x="9555480" y="2496312"/>
            <a:ext cx="411480" cy="502920"/>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4</a:t>
            </a:r>
            <a:endParaRPr lang="en-US" sz="3000" dirty="0"/>
          </a:p>
        </p:txBody>
      </p:sp>
      <p:sp>
        <p:nvSpPr>
          <p:cNvPr id="26" name="Text 24"/>
          <p:cNvSpPr/>
          <p:nvPr/>
        </p:nvSpPr>
        <p:spPr>
          <a:xfrm>
            <a:off x="9573768" y="3108960"/>
            <a:ext cx="2286000" cy="329184"/>
          </a:xfrm>
          <a:prstGeom prst="rect">
            <a:avLst/>
          </a:prstGeom>
          <a:noFill/>
          <a:ln/>
        </p:spPr>
        <p:txBody>
          <a:bodyPr wrap="square" lIns="0" tIns="0" rIns="0" bIns="0" rtlCol="0" anchor="ctr"/>
          <a:lstStyle/>
          <a:p>
            <a:pPr indent="0" marL="0">
              <a:buNone/>
            </a:pPr>
            <a:r>
              <a:rPr lang="en-US" sz="1600" b="1" spc="100" kern="0" dirty="0">
                <a:solidFill>
                  <a:srgbClr val="F4F7FB"/>
                </a:solidFill>
                <a:latin typeface="Aptos" pitchFamily="34" charset="0"/>
                <a:ea typeface="Aptos" pitchFamily="34" charset="-122"/>
                <a:cs typeface="Aptos" pitchFamily="34" charset="-120"/>
              </a:rPr>
              <a:t>VERIFY</a:t>
            </a:r>
            <a:endParaRPr lang="en-US" sz="1600" dirty="0"/>
          </a:p>
        </p:txBody>
      </p:sp>
      <p:sp>
        <p:nvSpPr>
          <p:cNvPr id="27" name="Text 25"/>
          <p:cNvSpPr/>
          <p:nvPr/>
        </p:nvSpPr>
        <p:spPr>
          <a:xfrm>
            <a:off x="9573768" y="3621024"/>
            <a:ext cx="2313432" cy="1325880"/>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Cross-check claims against source passages and flag contradictions</a:t>
            </a:r>
            <a:endParaRPr lang="en-US" sz="1300" dirty="0"/>
          </a:p>
        </p:txBody>
      </p:sp>
      <p:sp>
        <p:nvSpPr>
          <p:cNvPr id="28" name="Text 26"/>
          <p:cNvSpPr/>
          <p:nvPr/>
        </p:nvSpPr>
        <p:spPr>
          <a:xfrm>
            <a:off x="713232" y="5742432"/>
            <a:ext cx="10881360" cy="384048"/>
          </a:xfrm>
          <a:prstGeom prst="rect">
            <a:avLst/>
          </a:prstGeom>
          <a:noFill/>
          <a:ln/>
        </p:spPr>
        <p:txBody>
          <a:bodyPr wrap="square" lIns="0" tIns="0" rIns="0" bIns="0" rtlCol="0" anchor="ctr"/>
          <a:lstStyle/>
          <a:p>
            <a:pPr algn="ctr" indent="0" marL="0">
              <a:buNone/>
            </a:pPr>
            <a:r>
              <a:rPr lang="en-US" sz="1500" b="1" dirty="0">
                <a:solidFill>
                  <a:srgbClr val="44E0CB"/>
                </a:solidFill>
                <a:latin typeface="Aptos" pitchFamily="34" charset="0"/>
                <a:ea typeface="Aptos" pitchFamily="34" charset="-122"/>
                <a:cs typeface="Aptos" pitchFamily="34" charset="-120"/>
              </a:rPr>
              <a:t>OUTPUT  →  Cohort findings + denominators + exclusions + document-level citations + review flags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03 / DIFFERENTIATION</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Not another chatbot. An evidence-assurance workflow.</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Three complementary controls reduce unsupported answers and expose uncertainty.</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04</a:t>
            </a:r>
            <a:endParaRPr lang="en-US" sz="1000" dirty="0"/>
          </a:p>
        </p:txBody>
      </p:sp>
      <p:sp>
        <p:nvSpPr>
          <p:cNvPr id="9" name="Shape 7"/>
          <p:cNvSpPr/>
          <p:nvPr/>
        </p:nvSpPr>
        <p:spPr>
          <a:xfrm>
            <a:off x="694944" y="2240280"/>
            <a:ext cx="3429000" cy="3200400"/>
          </a:xfrm>
          <a:prstGeom prst="roundRect">
            <a:avLst>
              <a:gd name="adj" fmla="val 4571"/>
            </a:avLst>
          </a:prstGeom>
          <a:solidFill>
            <a:srgbClr val="172640"/>
          </a:solidFill>
          <a:ln w="12700">
            <a:solidFill>
              <a:srgbClr val="172640"/>
            </a:solidFill>
            <a:prstDash val="solid"/>
          </a:ln>
        </p:spPr>
      </p:sp>
      <p:sp>
        <p:nvSpPr>
          <p:cNvPr id="10" name="Shape 8"/>
          <p:cNvSpPr/>
          <p:nvPr/>
        </p:nvSpPr>
        <p:spPr>
          <a:xfrm>
            <a:off x="694944" y="2240280"/>
            <a:ext cx="54864" cy="3200400"/>
          </a:xfrm>
          <a:prstGeom prst="rect">
            <a:avLst/>
          </a:prstGeom>
          <a:solidFill>
            <a:srgbClr val="44E0CB"/>
          </a:solidFill>
          <a:ln w="12700">
            <a:solidFill>
              <a:srgbClr val="44E0CB"/>
            </a:solidFill>
            <a:prstDash val="solid"/>
          </a:ln>
        </p:spPr>
      </p:sp>
      <p:sp>
        <p:nvSpPr>
          <p:cNvPr id="11" name="Text 9"/>
          <p:cNvSpPr/>
          <p:nvPr/>
        </p:nvSpPr>
        <p:spPr>
          <a:xfrm>
            <a:off x="914400" y="2441448"/>
            <a:ext cx="3008376"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Evidence traceability</a:t>
            </a:r>
            <a:endParaRPr lang="en-US" sz="1900" dirty="0"/>
          </a:p>
        </p:txBody>
      </p:sp>
      <p:sp>
        <p:nvSpPr>
          <p:cNvPr id="12" name="Text 10"/>
          <p:cNvSpPr/>
          <p:nvPr/>
        </p:nvSpPr>
        <p:spPr>
          <a:xfrm>
            <a:off x="914400" y="2944368"/>
            <a:ext cx="2999232" cy="235915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Material clinical assertions retain a link to the specific patient, encounter, source file, and supporting passage.</a:t>
            </a:r>
            <a:endParaRPr lang="en-US" sz="1300" dirty="0"/>
          </a:p>
        </p:txBody>
      </p:sp>
      <p:sp>
        <p:nvSpPr>
          <p:cNvPr id="13" name="Shape 11"/>
          <p:cNvSpPr/>
          <p:nvPr/>
        </p:nvSpPr>
        <p:spPr>
          <a:xfrm>
            <a:off x="4370832" y="2240280"/>
            <a:ext cx="3429000" cy="3200400"/>
          </a:xfrm>
          <a:prstGeom prst="roundRect">
            <a:avLst>
              <a:gd name="adj" fmla="val 4571"/>
            </a:avLst>
          </a:prstGeom>
          <a:solidFill>
            <a:srgbClr val="172640"/>
          </a:solidFill>
          <a:ln w="12700">
            <a:solidFill>
              <a:srgbClr val="172640"/>
            </a:solidFill>
            <a:prstDash val="solid"/>
          </a:ln>
        </p:spPr>
      </p:sp>
      <p:sp>
        <p:nvSpPr>
          <p:cNvPr id="14" name="Shape 12"/>
          <p:cNvSpPr/>
          <p:nvPr/>
        </p:nvSpPr>
        <p:spPr>
          <a:xfrm>
            <a:off x="4370832" y="2240280"/>
            <a:ext cx="54864" cy="3200400"/>
          </a:xfrm>
          <a:prstGeom prst="rect">
            <a:avLst/>
          </a:prstGeom>
          <a:solidFill>
            <a:srgbClr val="44E0CB"/>
          </a:solidFill>
          <a:ln w="12700">
            <a:solidFill>
              <a:srgbClr val="44E0CB"/>
            </a:solidFill>
            <a:prstDash val="solid"/>
          </a:ln>
        </p:spPr>
      </p:sp>
      <p:sp>
        <p:nvSpPr>
          <p:cNvPr id="15" name="Text 13"/>
          <p:cNvSpPr/>
          <p:nvPr/>
        </p:nvSpPr>
        <p:spPr>
          <a:xfrm>
            <a:off x="4590288" y="2441448"/>
            <a:ext cx="3008376"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Deterministic analytics</a:t>
            </a:r>
            <a:endParaRPr lang="en-US" sz="1900" dirty="0"/>
          </a:p>
        </p:txBody>
      </p:sp>
      <p:sp>
        <p:nvSpPr>
          <p:cNvPr id="16" name="Text 14"/>
          <p:cNvSpPr/>
          <p:nvPr/>
        </p:nvSpPr>
        <p:spPr>
          <a:xfrm>
            <a:off x="4590288" y="2944368"/>
            <a:ext cx="2999232" cy="235915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SQL or code calculates cohort counts and metrics from validated structured records rather than LLM estimates.</a:t>
            </a:r>
            <a:endParaRPr lang="en-US" sz="1300" dirty="0"/>
          </a:p>
        </p:txBody>
      </p:sp>
      <p:sp>
        <p:nvSpPr>
          <p:cNvPr id="17" name="Shape 15"/>
          <p:cNvSpPr/>
          <p:nvPr/>
        </p:nvSpPr>
        <p:spPr>
          <a:xfrm>
            <a:off x="8046720" y="2240280"/>
            <a:ext cx="3429000" cy="3200400"/>
          </a:xfrm>
          <a:prstGeom prst="roundRect">
            <a:avLst>
              <a:gd name="adj" fmla="val 4571"/>
            </a:avLst>
          </a:prstGeom>
          <a:solidFill>
            <a:srgbClr val="172640"/>
          </a:solidFill>
          <a:ln w="12700">
            <a:solidFill>
              <a:srgbClr val="172640"/>
            </a:solidFill>
            <a:prstDash val="solid"/>
          </a:ln>
        </p:spPr>
      </p:sp>
      <p:sp>
        <p:nvSpPr>
          <p:cNvPr id="18" name="Shape 16"/>
          <p:cNvSpPr/>
          <p:nvPr/>
        </p:nvSpPr>
        <p:spPr>
          <a:xfrm>
            <a:off x="8046720" y="2240280"/>
            <a:ext cx="54864" cy="3200400"/>
          </a:xfrm>
          <a:prstGeom prst="rect">
            <a:avLst/>
          </a:prstGeom>
          <a:solidFill>
            <a:srgbClr val="44E0CB"/>
          </a:solidFill>
          <a:ln w="12700">
            <a:solidFill>
              <a:srgbClr val="44E0CB"/>
            </a:solidFill>
            <a:prstDash val="solid"/>
          </a:ln>
        </p:spPr>
      </p:sp>
      <p:sp>
        <p:nvSpPr>
          <p:cNvPr id="19" name="Text 17"/>
          <p:cNvSpPr/>
          <p:nvPr/>
        </p:nvSpPr>
        <p:spPr>
          <a:xfrm>
            <a:off x="8266176" y="2441448"/>
            <a:ext cx="3008376"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Adversarial review</a:t>
            </a:r>
            <a:endParaRPr lang="en-US" sz="1900" dirty="0"/>
          </a:p>
        </p:txBody>
      </p:sp>
      <p:sp>
        <p:nvSpPr>
          <p:cNvPr id="20" name="Text 18"/>
          <p:cNvSpPr/>
          <p:nvPr/>
        </p:nvSpPr>
        <p:spPr>
          <a:xfrm>
            <a:off x="8266176" y="2944368"/>
            <a:ext cx="2999232" cy="235915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Independent reviewers challenge inconsistencies, missing context, ambiguous timelines, and unsupported interpretations.</a:t>
            </a:r>
            <a:endParaRPr lang="en-US" sz="1300" dirty="0"/>
          </a:p>
        </p:txBody>
      </p:sp>
      <p:sp>
        <p:nvSpPr>
          <p:cNvPr id="21" name="Shape 19"/>
          <p:cNvSpPr/>
          <p:nvPr/>
        </p:nvSpPr>
        <p:spPr>
          <a:xfrm>
            <a:off x="1828800" y="5724144"/>
            <a:ext cx="1965960" cy="347472"/>
          </a:xfrm>
          <a:prstGeom prst="roundRect">
            <a:avLst>
              <a:gd name="adj" fmla="val 39474"/>
            </a:avLst>
          </a:prstGeom>
          <a:solidFill>
            <a:srgbClr val="132039"/>
          </a:solidFill>
          <a:ln w="12700">
            <a:solidFill>
              <a:srgbClr val="132039"/>
            </a:solidFill>
            <a:prstDash val="solid"/>
          </a:ln>
        </p:spPr>
      </p:sp>
      <p:sp>
        <p:nvSpPr>
          <p:cNvPr id="22" name="Text 20"/>
          <p:cNvSpPr/>
          <p:nvPr/>
        </p:nvSpPr>
        <p:spPr>
          <a:xfrm>
            <a:off x="1938528" y="5756148"/>
            <a:ext cx="1746504" cy="237744"/>
          </a:xfrm>
          <a:prstGeom prst="rect">
            <a:avLst/>
          </a:prstGeom>
          <a:noFill/>
          <a:ln/>
        </p:spPr>
        <p:txBody>
          <a:bodyPr wrap="square" lIns="0" tIns="0" rIns="0" bIns="0" rtlCol="0" anchor="ctr"/>
          <a:lstStyle/>
          <a:p>
            <a:pPr algn="ctr" indent="0" marL="0">
              <a:buNone/>
            </a:pPr>
            <a:r>
              <a:rPr lang="en-US" sz="1100" b="1" dirty="0">
                <a:solidFill>
                  <a:srgbClr val="44E0CB"/>
                </a:solidFill>
                <a:latin typeface="Aptos" pitchFamily="34" charset="0"/>
                <a:ea typeface="Aptos" pitchFamily="34" charset="-122"/>
                <a:cs typeface="Aptos" pitchFamily="34" charset="-120"/>
              </a:rPr>
              <a:t>SUPPORTED</a:t>
            </a:r>
            <a:endParaRPr lang="en-US" sz="1100" dirty="0"/>
          </a:p>
        </p:txBody>
      </p:sp>
      <p:sp>
        <p:nvSpPr>
          <p:cNvPr id="23" name="Shape 21"/>
          <p:cNvSpPr/>
          <p:nvPr/>
        </p:nvSpPr>
        <p:spPr>
          <a:xfrm>
            <a:off x="4636008" y="5724144"/>
            <a:ext cx="2286000" cy="347472"/>
          </a:xfrm>
          <a:prstGeom prst="roundRect">
            <a:avLst>
              <a:gd name="adj" fmla="val 39474"/>
            </a:avLst>
          </a:prstGeom>
          <a:solidFill>
            <a:srgbClr val="132039"/>
          </a:solidFill>
          <a:ln w="12700">
            <a:solidFill>
              <a:srgbClr val="132039"/>
            </a:solidFill>
            <a:prstDash val="solid"/>
          </a:ln>
        </p:spPr>
      </p:sp>
      <p:sp>
        <p:nvSpPr>
          <p:cNvPr id="24" name="Text 22"/>
          <p:cNvSpPr/>
          <p:nvPr/>
        </p:nvSpPr>
        <p:spPr>
          <a:xfrm>
            <a:off x="4745736" y="5756148"/>
            <a:ext cx="2066544" cy="237744"/>
          </a:xfrm>
          <a:prstGeom prst="rect">
            <a:avLst/>
          </a:prstGeom>
          <a:noFill/>
          <a:ln/>
        </p:spPr>
        <p:txBody>
          <a:bodyPr wrap="square" lIns="0" tIns="0" rIns="0" bIns="0" rtlCol="0" anchor="ctr"/>
          <a:lstStyle/>
          <a:p>
            <a:pPr algn="ctr" indent="0" marL="0">
              <a:buNone/>
            </a:pPr>
            <a:r>
              <a:rPr lang="en-US" sz="1100" b="1" dirty="0">
                <a:solidFill>
                  <a:srgbClr val="FFBC75"/>
                </a:solidFill>
                <a:latin typeface="Aptos" pitchFamily="34" charset="0"/>
                <a:ea typeface="Aptos" pitchFamily="34" charset="-122"/>
                <a:cs typeface="Aptos" pitchFamily="34" charset="-120"/>
              </a:rPr>
              <a:t>REVIEW REQUIRED</a:t>
            </a:r>
            <a:endParaRPr lang="en-US" sz="1100" dirty="0"/>
          </a:p>
        </p:txBody>
      </p:sp>
      <p:sp>
        <p:nvSpPr>
          <p:cNvPr id="25" name="Shape 23"/>
          <p:cNvSpPr/>
          <p:nvPr/>
        </p:nvSpPr>
        <p:spPr>
          <a:xfrm>
            <a:off x="7818120" y="5724144"/>
            <a:ext cx="2286000" cy="347472"/>
          </a:xfrm>
          <a:prstGeom prst="roundRect">
            <a:avLst>
              <a:gd name="adj" fmla="val 39474"/>
            </a:avLst>
          </a:prstGeom>
          <a:solidFill>
            <a:srgbClr val="132039"/>
          </a:solidFill>
          <a:ln w="12700">
            <a:solidFill>
              <a:srgbClr val="132039"/>
            </a:solidFill>
            <a:prstDash val="solid"/>
          </a:ln>
        </p:spPr>
      </p:sp>
      <p:sp>
        <p:nvSpPr>
          <p:cNvPr id="26" name="Text 24"/>
          <p:cNvSpPr/>
          <p:nvPr/>
        </p:nvSpPr>
        <p:spPr>
          <a:xfrm>
            <a:off x="7927848" y="5756148"/>
            <a:ext cx="2066544" cy="237744"/>
          </a:xfrm>
          <a:prstGeom prst="rect">
            <a:avLst/>
          </a:prstGeom>
          <a:noFill/>
          <a:ln/>
        </p:spPr>
        <p:txBody>
          <a:bodyPr wrap="square" lIns="0" tIns="0" rIns="0" bIns="0" rtlCol="0" anchor="ctr"/>
          <a:lstStyle/>
          <a:p>
            <a:pPr algn="ctr" indent="0" marL="0">
              <a:buNone/>
            </a:pPr>
            <a:r>
              <a:rPr lang="en-US" sz="1100" b="1" dirty="0">
                <a:solidFill>
                  <a:srgbClr val="FF7285"/>
                </a:solidFill>
                <a:latin typeface="Aptos" pitchFamily="34" charset="0"/>
                <a:ea typeface="Aptos" pitchFamily="34" charset="-122"/>
                <a:cs typeface="Aptos" pitchFamily="34" charset="-120"/>
              </a:rPr>
              <a:t>UNSUPPORTED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04 / ARCHITECTURE</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A verification gate between AI output and researcher.</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Verification is claim-specific. No model can guarantee zero hallucinations.</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05</a:t>
            </a:r>
            <a:endParaRPr lang="en-US" sz="1000" dirty="0"/>
          </a:p>
        </p:txBody>
      </p:sp>
      <p:sp>
        <p:nvSpPr>
          <p:cNvPr id="9" name="Shape 7"/>
          <p:cNvSpPr/>
          <p:nvPr/>
        </p:nvSpPr>
        <p:spPr>
          <a:xfrm>
            <a:off x="1078992" y="1993392"/>
            <a:ext cx="10040112" cy="539496"/>
          </a:xfrm>
          <a:prstGeom prst="roundRect">
            <a:avLst>
              <a:gd name="adj" fmla="val 13559"/>
            </a:avLst>
          </a:prstGeom>
          <a:solidFill>
            <a:srgbClr val="172640"/>
          </a:solidFill>
          <a:ln w="12700">
            <a:solidFill>
              <a:srgbClr val="172640"/>
            </a:solidFill>
            <a:prstDash val="solid"/>
          </a:ln>
        </p:spPr>
      </p:sp>
      <p:sp>
        <p:nvSpPr>
          <p:cNvPr id="10" name="Text 8"/>
          <p:cNvSpPr/>
          <p:nvPr/>
        </p:nvSpPr>
        <p:spPr>
          <a:xfrm>
            <a:off x="1280160" y="2121408"/>
            <a:ext cx="1984248" cy="210312"/>
          </a:xfrm>
          <a:prstGeom prst="rect">
            <a:avLst/>
          </a:prstGeom>
          <a:noFill/>
          <a:ln/>
        </p:spPr>
        <p:txBody>
          <a:bodyPr wrap="square" lIns="0" tIns="0" rIns="0" bIns="0" rtlCol="0" anchor="ctr"/>
          <a:lstStyle/>
          <a:p>
            <a:pPr indent="0" marL="0">
              <a:buNone/>
            </a:pPr>
            <a:r>
              <a:rPr lang="en-US" sz="1100" b="1" spc="50" kern="0" dirty="0">
                <a:solidFill>
                  <a:srgbClr val="A6B6CB"/>
                </a:solidFill>
                <a:latin typeface="Aptos" pitchFamily="34" charset="0"/>
                <a:ea typeface="Aptos" pitchFamily="34" charset="-122"/>
                <a:cs typeface="Aptos" pitchFamily="34" charset="-120"/>
              </a:rPr>
              <a:t>INPUT</a:t>
            </a:r>
            <a:endParaRPr lang="en-US" sz="1100" dirty="0"/>
          </a:p>
        </p:txBody>
      </p:sp>
      <p:sp>
        <p:nvSpPr>
          <p:cNvPr id="11" name="Text 9"/>
          <p:cNvSpPr/>
          <p:nvPr/>
        </p:nvSpPr>
        <p:spPr>
          <a:xfrm>
            <a:off x="3227832" y="2093976"/>
            <a:ext cx="7607808" cy="310896"/>
          </a:xfrm>
          <a:prstGeom prst="rect">
            <a:avLst/>
          </a:prstGeom>
          <a:noFill/>
          <a:ln/>
        </p:spPr>
        <p:txBody>
          <a:bodyPr wrap="square" lIns="0" tIns="0" rIns="0" bIns="0" rtlCol="0" anchor="ctr"/>
          <a:lstStyle/>
          <a:p>
            <a:pPr indent="0" marL="0">
              <a:buNone/>
            </a:pPr>
            <a:r>
              <a:rPr lang="en-US" sz="1500" dirty="0">
                <a:solidFill>
                  <a:srgbClr val="F4F7FB"/>
                </a:solidFill>
                <a:latin typeface="Aptos" pitchFamily="34" charset="0"/>
                <a:ea typeface="Aptos" pitchFamily="34" charset="-122"/>
                <a:cs typeface="Aptos" pitchFamily="34" charset="-120"/>
              </a:rPr>
              <a:t>Approved clinical document batch</a:t>
            </a:r>
            <a:endParaRPr lang="en-US" sz="1500" dirty="0"/>
          </a:p>
        </p:txBody>
      </p:sp>
      <p:sp>
        <p:nvSpPr>
          <p:cNvPr id="12" name="Text 10"/>
          <p:cNvSpPr/>
          <p:nvPr/>
        </p:nvSpPr>
        <p:spPr>
          <a:xfrm>
            <a:off x="5824728" y="2514600"/>
            <a:ext cx="274320" cy="210312"/>
          </a:xfrm>
          <a:prstGeom prst="rect">
            <a:avLst/>
          </a:prstGeom>
          <a:noFill/>
          <a:ln/>
        </p:spPr>
        <p:txBody>
          <a:bodyPr wrap="square" lIns="0" tIns="0" rIns="0" bIns="0" rtlCol="0" anchor="ctr"/>
          <a:lstStyle/>
          <a:p>
            <a:pPr algn="ctr" indent="0" marL="0">
              <a:buNone/>
            </a:pPr>
            <a:r>
              <a:rPr lang="en-US" sz="1200" b="1" dirty="0">
                <a:solidFill>
                  <a:srgbClr val="44E0CB"/>
                </a:solidFill>
                <a:latin typeface="Aptos" pitchFamily="34" charset="0"/>
                <a:ea typeface="Aptos" pitchFamily="34" charset="-122"/>
                <a:cs typeface="Aptos" pitchFamily="34" charset="-120"/>
              </a:rPr>
              <a:t>↓</a:t>
            </a:r>
            <a:endParaRPr lang="en-US" sz="1200" dirty="0"/>
          </a:p>
        </p:txBody>
      </p:sp>
      <p:sp>
        <p:nvSpPr>
          <p:cNvPr id="13" name="Shape 11"/>
          <p:cNvSpPr/>
          <p:nvPr/>
        </p:nvSpPr>
        <p:spPr>
          <a:xfrm>
            <a:off x="1078992" y="2651760"/>
            <a:ext cx="10040112" cy="539496"/>
          </a:xfrm>
          <a:prstGeom prst="roundRect">
            <a:avLst>
              <a:gd name="adj" fmla="val 13559"/>
            </a:avLst>
          </a:prstGeom>
          <a:solidFill>
            <a:srgbClr val="172640"/>
          </a:solidFill>
          <a:ln w="12700">
            <a:solidFill>
              <a:srgbClr val="172640"/>
            </a:solidFill>
            <a:prstDash val="solid"/>
          </a:ln>
        </p:spPr>
      </p:sp>
      <p:sp>
        <p:nvSpPr>
          <p:cNvPr id="14" name="Text 12"/>
          <p:cNvSpPr/>
          <p:nvPr/>
        </p:nvSpPr>
        <p:spPr>
          <a:xfrm>
            <a:off x="1280160" y="2779776"/>
            <a:ext cx="1984248" cy="210312"/>
          </a:xfrm>
          <a:prstGeom prst="rect">
            <a:avLst/>
          </a:prstGeom>
          <a:noFill/>
          <a:ln/>
        </p:spPr>
        <p:txBody>
          <a:bodyPr wrap="square" lIns="0" tIns="0" rIns="0" bIns="0" rtlCol="0" anchor="ctr"/>
          <a:lstStyle/>
          <a:p>
            <a:pPr indent="0" marL="0">
              <a:buNone/>
            </a:pPr>
            <a:r>
              <a:rPr lang="en-US" sz="1100" b="1" spc="50" kern="0" dirty="0">
                <a:solidFill>
                  <a:srgbClr val="A6B6CB"/>
                </a:solidFill>
                <a:latin typeface="Aptos" pitchFamily="34" charset="0"/>
                <a:ea typeface="Aptos" pitchFamily="34" charset="-122"/>
                <a:cs typeface="Aptos" pitchFamily="34" charset="-120"/>
              </a:rPr>
              <a:t>EXTRACTION</a:t>
            </a:r>
            <a:endParaRPr lang="en-US" sz="1100" dirty="0"/>
          </a:p>
        </p:txBody>
      </p:sp>
      <p:sp>
        <p:nvSpPr>
          <p:cNvPr id="15" name="Text 13"/>
          <p:cNvSpPr/>
          <p:nvPr/>
        </p:nvSpPr>
        <p:spPr>
          <a:xfrm>
            <a:off x="3227832" y="2752344"/>
            <a:ext cx="7607808" cy="310896"/>
          </a:xfrm>
          <a:prstGeom prst="rect">
            <a:avLst/>
          </a:prstGeom>
          <a:noFill/>
          <a:ln/>
        </p:spPr>
        <p:txBody>
          <a:bodyPr wrap="square" lIns="0" tIns="0" rIns="0" bIns="0" rtlCol="0" anchor="ctr"/>
          <a:lstStyle/>
          <a:p>
            <a:pPr indent="0" marL="0">
              <a:buNone/>
            </a:pPr>
            <a:r>
              <a:rPr lang="en-US" sz="1500" dirty="0">
                <a:solidFill>
                  <a:srgbClr val="F4F7FB"/>
                </a:solidFill>
                <a:latin typeface="Aptos" pitchFamily="34" charset="0"/>
                <a:ea typeface="Aptos" pitchFamily="34" charset="-122"/>
                <a:cs typeface="Aptos" pitchFamily="34" charset="-120"/>
              </a:rPr>
              <a:t>Patient reconciliation + structured clinical facts</a:t>
            </a:r>
            <a:endParaRPr lang="en-US" sz="1500" dirty="0"/>
          </a:p>
        </p:txBody>
      </p:sp>
      <p:sp>
        <p:nvSpPr>
          <p:cNvPr id="16" name="Text 14"/>
          <p:cNvSpPr/>
          <p:nvPr/>
        </p:nvSpPr>
        <p:spPr>
          <a:xfrm>
            <a:off x="5824728" y="3172968"/>
            <a:ext cx="274320" cy="210312"/>
          </a:xfrm>
          <a:prstGeom prst="rect">
            <a:avLst/>
          </a:prstGeom>
          <a:noFill/>
          <a:ln/>
        </p:spPr>
        <p:txBody>
          <a:bodyPr wrap="square" lIns="0" tIns="0" rIns="0" bIns="0" rtlCol="0" anchor="ctr"/>
          <a:lstStyle/>
          <a:p>
            <a:pPr algn="ctr" indent="0" marL="0">
              <a:buNone/>
            </a:pPr>
            <a:r>
              <a:rPr lang="en-US" sz="1200" b="1" dirty="0">
                <a:solidFill>
                  <a:srgbClr val="44E0CB"/>
                </a:solidFill>
                <a:latin typeface="Aptos" pitchFamily="34" charset="0"/>
                <a:ea typeface="Aptos" pitchFamily="34" charset="-122"/>
                <a:cs typeface="Aptos" pitchFamily="34" charset="-120"/>
              </a:rPr>
              <a:t>↓</a:t>
            </a:r>
            <a:endParaRPr lang="en-US" sz="1200" dirty="0"/>
          </a:p>
        </p:txBody>
      </p:sp>
      <p:sp>
        <p:nvSpPr>
          <p:cNvPr id="17" name="Shape 15"/>
          <p:cNvSpPr/>
          <p:nvPr/>
        </p:nvSpPr>
        <p:spPr>
          <a:xfrm>
            <a:off x="1078992" y="3310128"/>
            <a:ext cx="10040112" cy="539496"/>
          </a:xfrm>
          <a:prstGeom prst="roundRect">
            <a:avLst>
              <a:gd name="adj" fmla="val 13559"/>
            </a:avLst>
          </a:prstGeom>
          <a:solidFill>
            <a:srgbClr val="172640"/>
          </a:solidFill>
          <a:ln w="12700">
            <a:solidFill>
              <a:srgbClr val="172640"/>
            </a:solidFill>
            <a:prstDash val="solid"/>
          </a:ln>
        </p:spPr>
      </p:sp>
      <p:sp>
        <p:nvSpPr>
          <p:cNvPr id="18" name="Text 16"/>
          <p:cNvSpPr/>
          <p:nvPr/>
        </p:nvSpPr>
        <p:spPr>
          <a:xfrm>
            <a:off x="1280160" y="3438144"/>
            <a:ext cx="1984248" cy="210312"/>
          </a:xfrm>
          <a:prstGeom prst="rect">
            <a:avLst/>
          </a:prstGeom>
          <a:noFill/>
          <a:ln/>
        </p:spPr>
        <p:txBody>
          <a:bodyPr wrap="square" lIns="0" tIns="0" rIns="0" bIns="0" rtlCol="0" anchor="ctr"/>
          <a:lstStyle/>
          <a:p>
            <a:pPr indent="0" marL="0">
              <a:buNone/>
            </a:pPr>
            <a:r>
              <a:rPr lang="en-US" sz="1100" b="1" spc="50" kern="0" dirty="0">
                <a:solidFill>
                  <a:srgbClr val="A6B6CB"/>
                </a:solidFill>
                <a:latin typeface="Aptos" pitchFamily="34" charset="0"/>
                <a:ea typeface="Aptos" pitchFamily="34" charset="-122"/>
                <a:cs typeface="Aptos" pitchFamily="34" charset="-120"/>
              </a:rPr>
              <a:t>EVIDENCE STORE</a:t>
            </a:r>
            <a:endParaRPr lang="en-US" sz="1100" dirty="0"/>
          </a:p>
        </p:txBody>
      </p:sp>
      <p:sp>
        <p:nvSpPr>
          <p:cNvPr id="19" name="Text 17"/>
          <p:cNvSpPr/>
          <p:nvPr/>
        </p:nvSpPr>
        <p:spPr>
          <a:xfrm>
            <a:off x="3227832" y="3410712"/>
            <a:ext cx="7607808" cy="310896"/>
          </a:xfrm>
          <a:prstGeom prst="rect">
            <a:avLst/>
          </a:prstGeom>
          <a:noFill/>
          <a:ln/>
        </p:spPr>
        <p:txBody>
          <a:bodyPr wrap="square" lIns="0" tIns="0" rIns="0" bIns="0" rtlCol="0" anchor="ctr"/>
          <a:lstStyle/>
          <a:p>
            <a:pPr indent="0" marL="0">
              <a:buNone/>
            </a:pPr>
            <a:r>
              <a:rPr lang="en-US" sz="1500" dirty="0">
                <a:solidFill>
                  <a:srgbClr val="F4F7FB"/>
                </a:solidFill>
                <a:latin typeface="Aptos" pitchFamily="34" charset="0"/>
                <a:ea typeface="Aptos" pitchFamily="34" charset="-122"/>
                <a:cs typeface="Aptos" pitchFamily="34" charset="-120"/>
              </a:rPr>
              <a:t>Source passages + record lineage + versioned values</a:t>
            </a:r>
            <a:endParaRPr lang="en-US" sz="1500" dirty="0"/>
          </a:p>
        </p:txBody>
      </p:sp>
      <p:sp>
        <p:nvSpPr>
          <p:cNvPr id="20" name="Text 18"/>
          <p:cNvSpPr/>
          <p:nvPr/>
        </p:nvSpPr>
        <p:spPr>
          <a:xfrm>
            <a:off x="5824728" y="3831336"/>
            <a:ext cx="274320" cy="210312"/>
          </a:xfrm>
          <a:prstGeom prst="rect">
            <a:avLst/>
          </a:prstGeom>
          <a:noFill/>
          <a:ln/>
        </p:spPr>
        <p:txBody>
          <a:bodyPr wrap="square" lIns="0" tIns="0" rIns="0" bIns="0" rtlCol="0" anchor="ctr"/>
          <a:lstStyle/>
          <a:p>
            <a:pPr algn="ctr" indent="0" marL="0">
              <a:buNone/>
            </a:pPr>
            <a:r>
              <a:rPr lang="en-US" sz="1200" b="1" dirty="0">
                <a:solidFill>
                  <a:srgbClr val="44E0CB"/>
                </a:solidFill>
                <a:latin typeface="Aptos" pitchFamily="34" charset="0"/>
                <a:ea typeface="Aptos" pitchFamily="34" charset="-122"/>
                <a:cs typeface="Aptos" pitchFamily="34" charset="-120"/>
              </a:rPr>
              <a:t>↓</a:t>
            </a:r>
            <a:endParaRPr lang="en-US" sz="1200" dirty="0"/>
          </a:p>
        </p:txBody>
      </p:sp>
      <p:sp>
        <p:nvSpPr>
          <p:cNvPr id="21" name="Shape 19"/>
          <p:cNvSpPr/>
          <p:nvPr/>
        </p:nvSpPr>
        <p:spPr>
          <a:xfrm>
            <a:off x="1078992" y="3968496"/>
            <a:ext cx="10040112" cy="539496"/>
          </a:xfrm>
          <a:prstGeom prst="roundRect">
            <a:avLst>
              <a:gd name="adj" fmla="val 13559"/>
            </a:avLst>
          </a:prstGeom>
          <a:solidFill>
            <a:srgbClr val="172640"/>
          </a:solidFill>
          <a:ln w="12700">
            <a:solidFill>
              <a:srgbClr val="172640"/>
            </a:solidFill>
            <a:prstDash val="solid"/>
          </a:ln>
        </p:spPr>
      </p:sp>
      <p:sp>
        <p:nvSpPr>
          <p:cNvPr id="22" name="Text 20"/>
          <p:cNvSpPr/>
          <p:nvPr/>
        </p:nvSpPr>
        <p:spPr>
          <a:xfrm>
            <a:off x="1280160" y="4096512"/>
            <a:ext cx="1984248" cy="210312"/>
          </a:xfrm>
          <a:prstGeom prst="rect">
            <a:avLst/>
          </a:prstGeom>
          <a:noFill/>
          <a:ln/>
        </p:spPr>
        <p:txBody>
          <a:bodyPr wrap="square" lIns="0" tIns="0" rIns="0" bIns="0" rtlCol="0" anchor="ctr"/>
          <a:lstStyle/>
          <a:p>
            <a:pPr indent="0" marL="0">
              <a:buNone/>
            </a:pPr>
            <a:r>
              <a:rPr lang="en-US" sz="1100" b="1" spc="50" kern="0" dirty="0">
                <a:solidFill>
                  <a:srgbClr val="A6B6CB"/>
                </a:solidFill>
                <a:latin typeface="Aptos" pitchFamily="34" charset="0"/>
                <a:ea typeface="Aptos" pitchFamily="34" charset="-122"/>
                <a:cs typeface="Aptos" pitchFamily="34" charset="-120"/>
              </a:rPr>
              <a:t>ANALYTICS</a:t>
            </a:r>
            <a:endParaRPr lang="en-US" sz="1100" dirty="0"/>
          </a:p>
        </p:txBody>
      </p:sp>
      <p:sp>
        <p:nvSpPr>
          <p:cNvPr id="23" name="Text 21"/>
          <p:cNvSpPr/>
          <p:nvPr/>
        </p:nvSpPr>
        <p:spPr>
          <a:xfrm>
            <a:off x="3227832" y="4069080"/>
            <a:ext cx="7607808" cy="310896"/>
          </a:xfrm>
          <a:prstGeom prst="rect">
            <a:avLst/>
          </a:prstGeom>
          <a:noFill/>
          <a:ln/>
        </p:spPr>
        <p:txBody>
          <a:bodyPr wrap="square" lIns="0" tIns="0" rIns="0" bIns="0" rtlCol="0" anchor="ctr"/>
          <a:lstStyle/>
          <a:p>
            <a:pPr indent="0" marL="0">
              <a:buNone/>
            </a:pPr>
            <a:r>
              <a:rPr lang="en-US" sz="1500" dirty="0">
                <a:solidFill>
                  <a:srgbClr val="F4F7FB"/>
                </a:solidFill>
                <a:latin typeface="Aptos" pitchFamily="34" charset="0"/>
                <a:ea typeface="Aptos" pitchFamily="34" charset="-122"/>
                <a:cs typeface="Aptos" pitchFamily="34" charset="-120"/>
              </a:rPr>
              <a:t>Reproducible cohort definitions + SQL/Python calculations</a:t>
            </a:r>
            <a:endParaRPr lang="en-US" sz="1500" dirty="0"/>
          </a:p>
        </p:txBody>
      </p:sp>
      <p:sp>
        <p:nvSpPr>
          <p:cNvPr id="24" name="Text 22"/>
          <p:cNvSpPr/>
          <p:nvPr/>
        </p:nvSpPr>
        <p:spPr>
          <a:xfrm>
            <a:off x="5824728" y="4489704"/>
            <a:ext cx="274320" cy="210312"/>
          </a:xfrm>
          <a:prstGeom prst="rect">
            <a:avLst/>
          </a:prstGeom>
          <a:noFill/>
          <a:ln/>
        </p:spPr>
        <p:txBody>
          <a:bodyPr wrap="square" lIns="0" tIns="0" rIns="0" bIns="0" rtlCol="0" anchor="ctr"/>
          <a:lstStyle/>
          <a:p>
            <a:pPr algn="ctr" indent="0" marL="0">
              <a:buNone/>
            </a:pPr>
            <a:r>
              <a:rPr lang="en-US" sz="1200" b="1" dirty="0">
                <a:solidFill>
                  <a:srgbClr val="44E0CB"/>
                </a:solidFill>
                <a:latin typeface="Aptos" pitchFamily="34" charset="0"/>
                <a:ea typeface="Aptos" pitchFamily="34" charset="-122"/>
                <a:cs typeface="Aptos" pitchFamily="34" charset="-120"/>
              </a:rPr>
              <a:t>↓</a:t>
            </a:r>
            <a:endParaRPr lang="en-US" sz="1200" dirty="0"/>
          </a:p>
        </p:txBody>
      </p:sp>
      <p:sp>
        <p:nvSpPr>
          <p:cNvPr id="25" name="Shape 23"/>
          <p:cNvSpPr/>
          <p:nvPr/>
        </p:nvSpPr>
        <p:spPr>
          <a:xfrm>
            <a:off x="1078992" y="4626864"/>
            <a:ext cx="10040112" cy="539496"/>
          </a:xfrm>
          <a:prstGeom prst="roundRect">
            <a:avLst>
              <a:gd name="adj" fmla="val 13559"/>
            </a:avLst>
          </a:prstGeom>
          <a:solidFill>
            <a:srgbClr val="172640"/>
          </a:solidFill>
          <a:ln w="12700">
            <a:solidFill>
              <a:srgbClr val="172640"/>
            </a:solidFill>
            <a:prstDash val="solid"/>
          </a:ln>
        </p:spPr>
      </p:sp>
      <p:sp>
        <p:nvSpPr>
          <p:cNvPr id="26" name="Text 24"/>
          <p:cNvSpPr/>
          <p:nvPr/>
        </p:nvSpPr>
        <p:spPr>
          <a:xfrm>
            <a:off x="1280160" y="4754880"/>
            <a:ext cx="1984248" cy="210312"/>
          </a:xfrm>
          <a:prstGeom prst="rect">
            <a:avLst/>
          </a:prstGeom>
          <a:noFill/>
          <a:ln/>
        </p:spPr>
        <p:txBody>
          <a:bodyPr wrap="square" lIns="0" tIns="0" rIns="0" bIns="0" rtlCol="0" anchor="ctr"/>
          <a:lstStyle/>
          <a:p>
            <a:pPr indent="0" marL="0">
              <a:buNone/>
            </a:pPr>
            <a:r>
              <a:rPr lang="en-US" sz="1100" b="1" spc="50" kern="0" dirty="0">
                <a:solidFill>
                  <a:srgbClr val="A6B6CB"/>
                </a:solidFill>
                <a:latin typeface="Aptos" pitchFamily="34" charset="0"/>
                <a:ea typeface="Aptos" pitchFamily="34" charset="-122"/>
                <a:cs typeface="Aptos" pitchFamily="34" charset="-120"/>
              </a:rPr>
              <a:t>ASSURANCE</a:t>
            </a:r>
            <a:endParaRPr lang="en-US" sz="1100" dirty="0"/>
          </a:p>
        </p:txBody>
      </p:sp>
      <p:sp>
        <p:nvSpPr>
          <p:cNvPr id="27" name="Text 25"/>
          <p:cNvSpPr/>
          <p:nvPr/>
        </p:nvSpPr>
        <p:spPr>
          <a:xfrm>
            <a:off x="3227832" y="4727448"/>
            <a:ext cx="7607808" cy="310896"/>
          </a:xfrm>
          <a:prstGeom prst="rect">
            <a:avLst/>
          </a:prstGeom>
          <a:noFill/>
          <a:ln/>
        </p:spPr>
        <p:txBody>
          <a:bodyPr wrap="square" lIns="0" tIns="0" rIns="0" bIns="0" rtlCol="0" anchor="ctr"/>
          <a:lstStyle/>
          <a:p>
            <a:pPr indent="0" marL="0">
              <a:buNone/>
            </a:pPr>
            <a:r>
              <a:rPr lang="en-US" sz="1500" dirty="0">
                <a:solidFill>
                  <a:srgbClr val="F4F7FB"/>
                </a:solidFill>
                <a:latin typeface="Aptos" pitchFamily="34" charset="0"/>
                <a:ea typeface="Aptos" pitchFamily="34" charset="-122"/>
                <a:cs typeface="Aptos" pitchFamily="34" charset="-120"/>
              </a:rPr>
              <a:t>Rule checks + contradiction search + adversarial AI</a:t>
            </a:r>
            <a:endParaRPr lang="en-US" sz="1500" dirty="0"/>
          </a:p>
        </p:txBody>
      </p:sp>
      <p:sp>
        <p:nvSpPr>
          <p:cNvPr id="28" name="Text 26"/>
          <p:cNvSpPr/>
          <p:nvPr/>
        </p:nvSpPr>
        <p:spPr>
          <a:xfrm>
            <a:off x="5824728" y="5148072"/>
            <a:ext cx="274320" cy="210312"/>
          </a:xfrm>
          <a:prstGeom prst="rect">
            <a:avLst/>
          </a:prstGeom>
          <a:noFill/>
          <a:ln/>
        </p:spPr>
        <p:txBody>
          <a:bodyPr wrap="square" lIns="0" tIns="0" rIns="0" bIns="0" rtlCol="0" anchor="ctr"/>
          <a:lstStyle/>
          <a:p>
            <a:pPr algn="ctr" indent="0" marL="0">
              <a:buNone/>
            </a:pPr>
            <a:r>
              <a:rPr lang="en-US" sz="1200" b="1" dirty="0">
                <a:solidFill>
                  <a:srgbClr val="44E0CB"/>
                </a:solidFill>
                <a:latin typeface="Aptos" pitchFamily="34" charset="0"/>
                <a:ea typeface="Aptos" pitchFamily="34" charset="-122"/>
                <a:cs typeface="Aptos" pitchFamily="34" charset="-120"/>
              </a:rPr>
              <a:t>↓</a:t>
            </a:r>
            <a:endParaRPr lang="en-US" sz="1200" dirty="0"/>
          </a:p>
        </p:txBody>
      </p:sp>
      <p:sp>
        <p:nvSpPr>
          <p:cNvPr id="29" name="Shape 27"/>
          <p:cNvSpPr/>
          <p:nvPr/>
        </p:nvSpPr>
        <p:spPr>
          <a:xfrm>
            <a:off x="1078992" y="5285232"/>
            <a:ext cx="10040112" cy="539496"/>
          </a:xfrm>
          <a:prstGeom prst="roundRect">
            <a:avLst>
              <a:gd name="adj" fmla="val 13559"/>
            </a:avLst>
          </a:prstGeom>
          <a:solidFill>
            <a:srgbClr val="214C4E"/>
          </a:solidFill>
          <a:ln w="12700">
            <a:solidFill>
              <a:srgbClr val="214C4E"/>
            </a:solidFill>
            <a:prstDash val="solid"/>
          </a:ln>
        </p:spPr>
      </p:sp>
      <p:sp>
        <p:nvSpPr>
          <p:cNvPr id="30" name="Text 28"/>
          <p:cNvSpPr/>
          <p:nvPr/>
        </p:nvSpPr>
        <p:spPr>
          <a:xfrm>
            <a:off x="1280160" y="5413248"/>
            <a:ext cx="1984248" cy="210312"/>
          </a:xfrm>
          <a:prstGeom prst="rect">
            <a:avLst/>
          </a:prstGeom>
          <a:noFill/>
          <a:ln/>
        </p:spPr>
        <p:txBody>
          <a:bodyPr wrap="square" lIns="0" tIns="0" rIns="0" bIns="0" rtlCol="0" anchor="ctr"/>
          <a:lstStyle/>
          <a:p>
            <a:pPr indent="0" marL="0">
              <a:buNone/>
            </a:pPr>
            <a:r>
              <a:rPr lang="en-US" sz="1100" b="1" spc="50" kern="0" dirty="0">
                <a:solidFill>
                  <a:srgbClr val="44E0CB"/>
                </a:solidFill>
                <a:latin typeface="Aptos" pitchFamily="34" charset="0"/>
                <a:ea typeface="Aptos" pitchFamily="34" charset="-122"/>
                <a:cs typeface="Aptos" pitchFamily="34" charset="-120"/>
              </a:rPr>
              <a:t>RESEARCHER OUTPUT</a:t>
            </a:r>
            <a:endParaRPr lang="en-US" sz="1100" dirty="0"/>
          </a:p>
        </p:txBody>
      </p:sp>
      <p:sp>
        <p:nvSpPr>
          <p:cNvPr id="31" name="Text 29"/>
          <p:cNvSpPr/>
          <p:nvPr/>
        </p:nvSpPr>
        <p:spPr>
          <a:xfrm>
            <a:off x="3227832" y="5385816"/>
            <a:ext cx="7607808" cy="310896"/>
          </a:xfrm>
          <a:prstGeom prst="rect">
            <a:avLst/>
          </a:prstGeom>
          <a:noFill/>
          <a:ln/>
        </p:spPr>
        <p:txBody>
          <a:bodyPr wrap="square" lIns="0" tIns="0" rIns="0" bIns="0" rtlCol="0" anchor="ctr"/>
          <a:lstStyle/>
          <a:p>
            <a:pPr indent="0" marL="0">
              <a:buNone/>
            </a:pPr>
            <a:r>
              <a:rPr lang="en-US" sz="1500" b="1" dirty="0">
                <a:solidFill>
                  <a:srgbClr val="F4F7FB"/>
                </a:solidFill>
                <a:latin typeface="Aptos" pitchFamily="34" charset="0"/>
                <a:ea typeface="Aptos" pitchFamily="34" charset="-122"/>
                <a:cs typeface="Aptos" pitchFamily="34" charset="-120"/>
              </a:rPr>
              <a:t>Grounded results, warnings, methods, and evidence links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05 / LIVE DEMO</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One research question. Evidence you can inspect.</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Demonstrate with synthetic records only. Numbers below are illustrative, not actual study findings.</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06</a:t>
            </a:r>
            <a:endParaRPr lang="en-US" sz="1000" dirty="0"/>
          </a:p>
        </p:txBody>
      </p:sp>
      <p:sp>
        <p:nvSpPr>
          <p:cNvPr id="9" name="Shape 7"/>
          <p:cNvSpPr/>
          <p:nvPr/>
        </p:nvSpPr>
        <p:spPr>
          <a:xfrm>
            <a:off x="713232" y="2020824"/>
            <a:ext cx="10789920" cy="685800"/>
          </a:xfrm>
          <a:prstGeom prst="roundRect">
            <a:avLst>
              <a:gd name="adj" fmla="val 21333"/>
            </a:avLst>
          </a:prstGeom>
          <a:solidFill>
            <a:srgbClr val="132039"/>
          </a:solidFill>
          <a:ln w="12700">
            <a:solidFill>
              <a:srgbClr val="132039"/>
            </a:solidFill>
            <a:prstDash val="solid"/>
          </a:ln>
        </p:spPr>
      </p:sp>
      <p:sp>
        <p:nvSpPr>
          <p:cNvPr id="10" name="Text 8"/>
          <p:cNvSpPr/>
          <p:nvPr/>
        </p:nvSpPr>
        <p:spPr>
          <a:xfrm>
            <a:off x="987552" y="2221992"/>
            <a:ext cx="10268712" cy="292608"/>
          </a:xfrm>
          <a:prstGeom prst="rect">
            <a:avLst/>
          </a:prstGeom>
          <a:noFill/>
          <a:ln/>
        </p:spPr>
        <p:txBody>
          <a:bodyPr wrap="square" lIns="0" tIns="0" rIns="0" bIns="0" rtlCol="0" anchor="ctr"/>
          <a:lstStyle/>
          <a:p>
            <a:pPr indent="0" marL="0">
              <a:buNone/>
            </a:pPr>
            <a:r>
              <a:rPr lang="en-US" sz="1700" b="1" dirty="0">
                <a:solidFill>
                  <a:srgbClr val="F4F7FB"/>
                </a:solidFill>
                <a:latin typeface="Aptos" pitchFamily="34" charset="0"/>
                <a:ea typeface="Aptos" pitchFamily="34" charset="-122"/>
                <a:cs typeface="Aptos" pitchFamily="34" charset="-120"/>
              </a:rPr>
              <a:t>QUESTION   “Among Treatment A patients, how many had a documented adverse event?”</a:t>
            </a:r>
            <a:endParaRPr lang="en-US" sz="1700" dirty="0"/>
          </a:p>
        </p:txBody>
      </p:sp>
      <p:sp>
        <p:nvSpPr>
          <p:cNvPr id="11" name="Shape 9"/>
          <p:cNvSpPr/>
          <p:nvPr/>
        </p:nvSpPr>
        <p:spPr>
          <a:xfrm>
            <a:off x="713232" y="2999232"/>
            <a:ext cx="5001768" cy="2112264"/>
          </a:xfrm>
          <a:prstGeom prst="roundRect">
            <a:avLst>
              <a:gd name="adj" fmla="val 6926"/>
            </a:avLst>
          </a:prstGeom>
          <a:solidFill>
            <a:srgbClr val="172640"/>
          </a:solidFill>
          <a:ln w="12700">
            <a:solidFill>
              <a:srgbClr val="172640"/>
            </a:solidFill>
            <a:prstDash val="solid"/>
          </a:ln>
        </p:spPr>
      </p:sp>
      <p:sp>
        <p:nvSpPr>
          <p:cNvPr id="12" name="Text 10"/>
          <p:cNvSpPr/>
          <p:nvPr/>
        </p:nvSpPr>
        <p:spPr>
          <a:xfrm>
            <a:off x="1005840" y="3291840"/>
            <a:ext cx="2103120" cy="786384"/>
          </a:xfrm>
          <a:prstGeom prst="rect">
            <a:avLst/>
          </a:prstGeom>
          <a:noFill/>
          <a:ln/>
        </p:spPr>
        <p:txBody>
          <a:bodyPr wrap="square" lIns="0" tIns="0" rIns="0" bIns="0" rtlCol="0" anchor="ctr"/>
          <a:lstStyle/>
          <a:p>
            <a:pPr indent="0" marL="0">
              <a:buNone/>
            </a:pPr>
            <a:r>
              <a:rPr lang="en-US" sz="4700" b="1" dirty="0">
                <a:solidFill>
                  <a:srgbClr val="44E0CB"/>
                </a:solidFill>
                <a:latin typeface="Aptos" pitchFamily="34" charset="0"/>
                <a:ea typeface="Aptos" pitchFamily="34" charset="-122"/>
                <a:cs typeface="Aptos" pitchFamily="34" charset="-120"/>
              </a:rPr>
              <a:t>48</a:t>
            </a:r>
            <a:endParaRPr lang="en-US" sz="4700" dirty="0"/>
          </a:p>
        </p:txBody>
      </p:sp>
      <p:sp>
        <p:nvSpPr>
          <p:cNvPr id="13" name="Text 11"/>
          <p:cNvSpPr/>
          <p:nvPr/>
        </p:nvSpPr>
        <p:spPr>
          <a:xfrm>
            <a:off x="1042416" y="4187952"/>
            <a:ext cx="4023360" cy="320040"/>
          </a:xfrm>
          <a:prstGeom prst="rect">
            <a:avLst/>
          </a:prstGeom>
          <a:noFill/>
          <a:ln/>
        </p:spPr>
        <p:txBody>
          <a:bodyPr wrap="square" lIns="0" tIns="0" rIns="0" bIns="0" rtlCol="0" anchor="ctr"/>
          <a:lstStyle/>
          <a:p>
            <a:pPr indent="0" marL="0">
              <a:buNone/>
            </a:pPr>
            <a:r>
              <a:rPr lang="en-US" sz="1700" dirty="0">
                <a:solidFill>
                  <a:srgbClr val="F4F7FB"/>
                </a:solidFill>
                <a:latin typeface="Aptos" pitchFamily="34" charset="0"/>
                <a:ea typeface="Aptos" pitchFamily="34" charset="-122"/>
                <a:cs typeface="Aptos" pitchFamily="34" charset="-120"/>
              </a:rPr>
              <a:t>Treatment A patients</a:t>
            </a:r>
            <a:endParaRPr lang="en-US" sz="1700" dirty="0"/>
          </a:p>
        </p:txBody>
      </p:sp>
      <p:sp>
        <p:nvSpPr>
          <p:cNvPr id="14" name="Shape 12"/>
          <p:cNvSpPr/>
          <p:nvPr/>
        </p:nvSpPr>
        <p:spPr>
          <a:xfrm>
            <a:off x="5897880" y="2999232"/>
            <a:ext cx="5605272" cy="2112264"/>
          </a:xfrm>
          <a:prstGeom prst="roundRect">
            <a:avLst>
              <a:gd name="adj" fmla="val 6926"/>
            </a:avLst>
          </a:prstGeom>
          <a:solidFill>
            <a:srgbClr val="172640"/>
          </a:solidFill>
          <a:ln w="12700">
            <a:solidFill>
              <a:srgbClr val="172640"/>
            </a:solidFill>
            <a:prstDash val="solid"/>
          </a:ln>
        </p:spPr>
      </p:sp>
      <p:sp>
        <p:nvSpPr>
          <p:cNvPr id="15" name="Text 13"/>
          <p:cNvSpPr/>
          <p:nvPr/>
        </p:nvSpPr>
        <p:spPr>
          <a:xfrm>
            <a:off x="6181344" y="3291840"/>
            <a:ext cx="3657600" cy="749808"/>
          </a:xfrm>
          <a:prstGeom prst="rect">
            <a:avLst/>
          </a:prstGeom>
          <a:noFill/>
          <a:ln/>
        </p:spPr>
        <p:txBody>
          <a:bodyPr wrap="square" lIns="0" tIns="0" rIns="0" bIns="0" rtlCol="0" anchor="ctr"/>
          <a:lstStyle/>
          <a:p>
            <a:pPr indent="0" marL="0">
              <a:buNone/>
            </a:pPr>
            <a:r>
              <a:rPr lang="en-US" sz="4200" b="1" dirty="0">
                <a:solidFill>
                  <a:srgbClr val="44E0CB"/>
                </a:solidFill>
                <a:latin typeface="Aptos" pitchFamily="34" charset="0"/>
                <a:ea typeface="Aptos" pitchFamily="34" charset="-122"/>
                <a:cs typeface="Aptos" pitchFamily="34" charset="-120"/>
              </a:rPr>
              <a:t>12 / 48</a:t>
            </a:r>
            <a:endParaRPr lang="en-US" sz="4200" dirty="0"/>
          </a:p>
        </p:txBody>
      </p:sp>
      <p:sp>
        <p:nvSpPr>
          <p:cNvPr id="16" name="Text 14"/>
          <p:cNvSpPr/>
          <p:nvPr/>
        </p:nvSpPr>
        <p:spPr>
          <a:xfrm>
            <a:off x="6208776" y="4187952"/>
            <a:ext cx="5010912" cy="320040"/>
          </a:xfrm>
          <a:prstGeom prst="rect">
            <a:avLst/>
          </a:prstGeom>
          <a:noFill/>
          <a:ln/>
        </p:spPr>
        <p:txBody>
          <a:bodyPr wrap="square" lIns="0" tIns="0" rIns="0" bIns="0" rtlCol="0" anchor="ctr"/>
          <a:lstStyle/>
          <a:p>
            <a:pPr indent="0" marL="0">
              <a:buNone/>
            </a:pPr>
            <a:r>
              <a:rPr lang="en-US" sz="1700" dirty="0">
                <a:solidFill>
                  <a:srgbClr val="F4F7FB"/>
                </a:solidFill>
                <a:latin typeface="Aptos" pitchFamily="34" charset="0"/>
                <a:ea typeface="Aptos" pitchFamily="34" charset="-122"/>
                <a:cs typeface="Aptos" pitchFamily="34" charset="-120"/>
              </a:rPr>
              <a:t>Documented events (25%)</a:t>
            </a:r>
            <a:endParaRPr lang="en-US" sz="1700" dirty="0"/>
          </a:p>
        </p:txBody>
      </p:sp>
      <p:sp>
        <p:nvSpPr>
          <p:cNvPr id="17" name="Shape 15"/>
          <p:cNvSpPr/>
          <p:nvPr/>
        </p:nvSpPr>
        <p:spPr>
          <a:xfrm>
            <a:off x="713232" y="5349240"/>
            <a:ext cx="10789920" cy="621792"/>
          </a:xfrm>
          <a:prstGeom prst="roundRect">
            <a:avLst>
              <a:gd name="adj" fmla="val 23529"/>
            </a:avLst>
          </a:prstGeom>
          <a:solidFill>
            <a:srgbClr val="172640"/>
          </a:solidFill>
          <a:ln w="12700">
            <a:solidFill>
              <a:srgbClr val="172640"/>
            </a:solidFill>
            <a:prstDash val="solid"/>
          </a:ln>
        </p:spPr>
      </p:sp>
      <p:sp>
        <p:nvSpPr>
          <p:cNvPr id="18" name="Text 16"/>
          <p:cNvSpPr/>
          <p:nvPr/>
        </p:nvSpPr>
        <p:spPr>
          <a:xfrm>
            <a:off x="978408" y="5550408"/>
            <a:ext cx="10241280" cy="228600"/>
          </a:xfrm>
          <a:prstGeom prst="rect">
            <a:avLst/>
          </a:prstGeom>
          <a:noFill/>
          <a:ln/>
        </p:spPr>
        <p:txBody>
          <a:bodyPr wrap="square" lIns="0" tIns="0" rIns="0" bIns="0" rtlCol="0" anchor="ctr"/>
          <a:lstStyle/>
          <a:p>
            <a:pPr indent="0" marL="0">
              <a:buNone/>
            </a:pPr>
            <a:r>
              <a:rPr lang="en-US" sz="1400" b="1" dirty="0">
                <a:solidFill>
                  <a:srgbClr val="FFBC75"/>
                </a:solidFill>
                <a:latin typeface="Aptos" pitchFamily="34" charset="0"/>
                <a:ea typeface="Aptos" pitchFamily="34" charset="-122"/>
                <a:cs typeface="Aptos" pitchFamily="34" charset="-120"/>
              </a:rPr>
              <a:t>⚠  3 conflicting records flagged for review   •   Patient-level source references available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06 / CUSTOMERS &amp; MVP</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Start narrow. Validate rigorously. Scale carefully.</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Initial research workflow: retrospective cohort abstraction from de-identified documents.</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07</a:t>
            </a:r>
            <a:endParaRPr lang="en-US" sz="1000" dirty="0"/>
          </a:p>
        </p:txBody>
      </p:sp>
      <p:sp>
        <p:nvSpPr>
          <p:cNvPr id="9" name="Shape 7"/>
          <p:cNvSpPr/>
          <p:nvPr/>
        </p:nvSpPr>
        <p:spPr>
          <a:xfrm>
            <a:off x="713232" y="2121408"/>
            <a:ext cx="5138928" cy="2514600"/>
          </a:xfrm>
          <a:prstGeom prst="roundRect">
            <a:avLst>
              <a:gd name="adj" fmla="val 5818"/>
            </a:avLst>
          </a:prstGeom>
          <a:solidFill>
            <a:srgbClr val="172640"/>
          </a:solidFill>
          <a:ln w="12700">
            <a:solidFill>
              <a:srgbClr val="172640"/>
            </a:solidFill>
            <a:prstDash val="solid"/>
          </a:ln>
        </p:spPr>
      </p:sp>
      <p:sp>
        <p:nvSpPr>
          <p:cNvPr id="10" name="Shape 8"/>
          <p:cNvSpPr/>
          <p:nvPr/>
        </p:nvSpPr>
        <p:spPr>
          <a:xfrm>
            <a:off x="713232" y="2121408"/>
            <a:ext cx="54864" cy="2514600"/>
          </a:xfrm>
          <a:prstGeom prst="rect">
            <a:avLst/>
          </a:prstGeom>
          <a:solidFill>
            <a:srgbClr val="44E0CB"/>
          </a:solidFill>
          <a:ln w="12700">
            <a:solidFill>
              <a:srgbClr val="44E0CB"/>
            </a:solidFill>
            <a:prstDash val="solid"/>
          </a:ln>
        </p:spPr>
      </p:sp>
      <p:sp>
        <p:nvSpPr>
          <p:cNvPr id="11" name="Text 9"/>
          <p:cNvSpPr/>
          <p:nvPr/>
        </p:nvSpPr>
        <p:spPr>
          <a:xfrm>
            <a:off x="932688" y="2322576"/>
            <a:ext cx="4718304"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Initial customers</a:t>
            </a:r>
            <a:endParaRPr lang="en-US" sz="1900" dirty="0"/>
          </a:p>
        </p:txBody>
      </p:sp>
      <p:sp>
        <p:nvSpPr>
          <p:cNvPr id="12" name="Text 10"/>
          <p:cNvSpPr/>
          <p:nvPr/>
        </p:nvSpPr>
        <p:spPr>
          <a:xfrm>
            <a:off x="932688" y="2825496"/>
            <a:ext cx="4709160" cy="167335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Clinical research teams, academic medical centers, CROs, and biotech researchers reviewing longitudinal patient records.</a:t>
            </a:r>
            <a:endParaRPr lang="en-US" sz="1300" dirty="0"/>
          </a:p>
        </p:txBody>
      </p:sp>
      <p:sp>
        <p:nvSpPr>
          <p:cNvPr id="13" name="Shape 11"/>
          <p:cNvSpPr/>
          <p:nvPr/>
        </p:nvSpPr>
        <p:spPr>
          <a:xfrm>
            <a:off x="6099048" y="2121408"/>
            <a:ext cx="5358384" cy="2514600"/>
          </a:xfrm>
          <a:prstGeom prst="roundRect">
            <a:avLst>
              <a:gd name="adj" fmla="val 5818"/>
            </a:avLst>
          </a:prstGeom>
          <a:solidFill>
            <a:srgbClr val="172640"/>
          </a:solidFill>
          <a:ln w="12700">
            <a:solidFill>
              <a:srgbClr val="172640"/>
            </a:solidFill>
            <a:prstDash val="solid"/>
          </a:ln>
        </p:spPr>
      </p:sp>
      <p:sp>
        <p:nvSpPr>
          <p:cNvPr id="14" name="Shape 12"/>
          <p:cNvSpPr/>
          <p:nvPr/>
        </p:nvSpPr>
        <p:spPr>
          <a:xfrm>
            <a:off x="6099048" y="2121408"/>
            <a:ext cx="54864" cy="2514600"/>
          </a:xfrm>
          <a:prstGeom prst="rect">
            <a:avLst/>
          </a:prstGeom>
          <a:solidFill>
            <a:srgbClr val="44E0CB"/>
          </a:solidFill>
          <a:ln w="12700">
            <a:solidFill>
              <a:srgbClr val="44E0CB"/>
            </a:solidFill>
            <a:prstDash val="solid"/>
          </a:ln>
        </p:spPr>
      </p:sp>
      <p:sp>
        <p:nvSpPr>
          <p:cNvPr id="15" name="Text 13"/>
          <p:cNvSpPr/>
          <p:nvPr/>
        </p:nvSpPr>
        <p:spPr>
          <a:xfrm>
            <a:off x="6318504" y="2322576"/>
            <a:ext cx="4937760" cy="402336"/>
          </a:xfrm>
          <a:prstGeom prst="rect">
            <a:avLst/>
          </a:prstGeom>
          <a:noFill/>
          <a:ln/>
        </p:spPr>
        <p:txBody>
          <a:bodyPr wrap="square" lIns="0" tIns="0" rIns="0" bIns="0" rtlCol="0" anchor="ctr"/>
          <a:lstStyle/>
          <a:p>
            <a:pPr indent="0" marL="0">
              <a:buNone/>
            </a:pPr>
            <a:r>
              <a:rPr lang="en-US" sz="1900" b="1" dirty="0">
                <a:solidFill>
                  <a:srgbClr val="F4F7FB"/>
                </a:solidFill>
                <a:latin typeface="Aptos" pitchFamily="34" charset="0"/>
                <a:ea typeface="Aptos" pitchFamily="34" charset="-122"/>
                <a:cs typeface="Aptos" pitchFamily="34" charset="-120"/>
              </a:rPr>
              <a:t>Proposed MVP</a:t>
            </a:r>
            <a:endParaRPr lang="en-US" sz="1900" dirty="0"/>
          </a:p>
        </p:txBody>
      </p:sp>
      <p:sp>
        <p:nvSpPr>
          <p:cNvPr id="16" name="Text 14"/>
          <p:cNvSpPr/>
          <p:nvPr/>
        </p:nvSpPr>
        <p:spPr>
          <a:xfrm>
            <a:off x="6318504" y="2825496"/>
            <a:ext cx="4928616" cy="1673352"/>
          </a:xfrm>
          <a:prstGeom prst="rect">
            <a:avLst/>
          </a:prstGeom>
          <a:noFill/>
          <a:ln/>
        </p:spPr>
        <p:txBody>
          <a:bodyPr wrap="square" lIns="0" tIns="0" rIns="0" bIns="0" rtlCol="0" anchor="t"/>
          <a:lstStyle/>
          <a:p>
            <a:pPr indent="0" marL="0">
              <a:buNone/>
            </a:pPr>
            <a:r>
              <a:rPr lang="en-US" sz="1300" dirty="0">
                <a:solidFill>
                  <a:srgbClr val="A6B6CB"/>
                </a:solidFill>
                <a:latin typeface="Aptos" pitchFamily="34" charset="0"/>
                <a:ea typeface="Aptos" pitchFamily="34" charset="-122"/>
                <a:cs typeface="Aptos" pitchFamily="34" charset="-120"/>
              </a:rPr>
              <a:t>Batch document ingestion; patient-level extraction; cohort queries; evidence links; deterministic metrics; human review queues.</a:t>
            </a:r>
            <a:endParaRPr lang="en-US" sz="1300" dirty="0"/>
          </a:p>
        </p:txBody>
      </p:sp>
      <p:sp>
        <p:nvSpPr>
          <p:cNvPr id="17" name="Shape 15"/>
          <p:cNvSpPr/>
          <p:nvPr/>
        </p:nvSpPr>
        <p:spPr>
          <a:xfrm>
            <a:off x="731520" y="4882896"/>
            <a:ext cx="10716768" cy="841248"/>
          </a:xfrm>
          <a:prstGeom prst="roundRect">
            <a:avLst>
              <a:gd name="adj" fmla="val 17391"/>
            </a:avLst>
          </a:prstGeom>
          <a:solidFill>
            <a:srgbClr val="132039"/>
          </a:solidFill>
          <a:ln w="12700">
            <a:solidFill>
              <a:srgbClr val="132039"/>
            </a:solidFill>
            <a:prstDash val="solid"/>
          </a:ln>
        </p:spPr>
      </p:sp>
      <p:sp>
        <p:nvSpPr>
          <p:cNvPr id="18" name="Text 16"/>
          <p:cNvSpPr/>
          <p:nvPr/>
        </p:nvSpPr>
        <p:spPr>
          <a:xfrm>
            <a:off x="950976" y="5065776"/>
            <a:ext cx="2423160" cy="329184"/>
          </a:xfrm>
          <a:prstGeom prst="rect">
            <a:avLst/>
          </a:prstGeom>
          <a:noFill/>
          <a:ln/>
        </p:spPr>
        <p:txBody>
          <a:bodyPr wrap="square" lIns="0" tIns="0" rIns="0" bIns="0" rtlCol="0" anchor="ctr"/>
          <a:lstStyle/>
          <a:p>
            <a:pPr indent="0" marL="0">
              <a:buNone/>
            </a:pPr>
            <a:r>
              <a:rPr lang="en-US" sz="1400" b="1" dirty="0">
                <a:solidFill>
                  <a:srgbClr val="44E0CB"/>
                </a:solidFill>
                <a:latin typeface="Aptos" pitchFamily="34" charset="0"/>
                <a:ea typeface="Aptos" pitchFamily="34" charset="-122"/>
                <a:cs typeface="Aptos" pitchFamily="34" charset="-120"/>
              </a:rPr>
              <a:t>VALIDATION METRICS</a:t>
            </a:r>
            <a:endParaRPr lang="en-US" sz="1400" dirty="0"/>
          </a:p>
        </p:txBody>
      </p:sp>
      <p:sp>
        <p:nvSpPr>
          <p:cNvPr id="19" name="Text 17"/>
          <p:cNvSpPr/>
          <p:nvPr/>
        </p:nvSpPr>
        <p:spPr>
          <a:xfrm>
            <a:off x="3355848" y="5047488"/>
            <a:ext cx="7818120" cy="384048"/>
          </a:xfrm>
          <a:prstGeom prst="rect">
            <a:avLst/>
          </a:prstGeom>
          <a:noFill/>
          <a:ln/>
        </p:spPr>
        <p:txBody>
          <a:bodyPr wrap="square" lIns="0" tIns="0" rIns="0" bIns="0" rtlCol="0" anchor="ctr"/>
          <a:lstStyle/>
          <a:p>
            <a:pPr indent="0" marL="0">
              <a:buNone/>
            </a:pPr>
            <a:r>
              <a:rPr lang="en-US" sz="1300" dirty="0">
                <a:solidFill>
                  <a:srgbClr val="F4F7FB"/>
                </a:solidFill>
                <a:latin typeface="Aptos" pitchFamily="34" charset="0"/>
                <a:ea typeface="Aptos" pitchFamily="34" charset="-122"/>
                <a:cs typeface="Aptos" pitchFamily="34" charset="-120"/>
              </a:rPr>
              <a:t>Extraction accuracy  •  Patient linkage  •  Cohort error rate  •  Unsupported claims caught</a:t>
            </a:r>
            <a:endParaRPr lang="en-US" sz="1300" dirty="0"/>
          </a:p>
        </p:txBody>
      </p:sp>
      <p:sp>
        <p:nvSpPr>
          <p:cNvPr id="20" name="Text 18"/>
          <p:cNvSpPr/>
          <p:nvPr/>
        </p:nvSpPr>
        <p:spPr>
          <a:xfrm>
            <a:off x="777240" y="6007608"/>
            <a:ext cx="10744200" cy="301752"/>
          </a:xfrm>
          <a:prstGeom prst="rect">
            <a:avLst/>
          </a:prstGeom>
          <a:noFill/>
          <a:ln/>
        </p:spPr>
        <p:txBody>
          <a:bodyPr wrap="square" lIns="0" tIns="0" rIns="0" bIns="0" rtlCol="0" anchor="ctr"/>
          <a:lstStyle/>
          <a:p>
            <a:pPr indent="0" marL="0">
              <a:buNone/>
            </a:pPr>
            <a:r>
              <a:rPr lang="en-US" sz="1200" dirty="0">
                <a:solidFill>
                  <a:srgbClr val="A6B6CB"/>
                </a:solidFill>
                <a:latin typeface="Aptos" pitchFamily="34" charset="0"/>
                <a:ea typeface="Aptos" pitchFamily="34" charset="-122"/>
                <a:cs typeface="Aptos" pitchFamily="34" charset="-120"/>
              </a:rPr>
              <a:t>Guardrail: real patient data requires approved governance, privacy/security controls, and human oversight.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44E0CB"/>
          </a:solidFill>
          <a:ln w="12700">
            <a:solidFill>
              <a:srgbClr val="44E0CB"/>
            </a:solidFill>
            <a:prstDash val="solid"/>
          </a:ln>
        </p:spPr>
      </p:sp>
      <p:sp>
        <p:nvSpPr>
          <p:cNvPr id="3" name="Text 1"/>
          <p:cNvSpPr/>
          <p:nvPr/>
        </p:nvSpPr>
        <p:spPr>
          <a:xfrm>
            <a:off x="566928" y="393192"/>
            <a:ext cx="10058400" cy="228600"/>
          </a:xfrm>
          <a:prstGeom prst="rect">
            <a:avLst/>
          </a:prstGeom>
          <a:noFill/>
          <a:ln/>
        </p:spPr>
        <p:txBody>
          <a:bodyPr wrap="square" lIns="0" tIns="0" rIns="0" bIns="0" rtlCol="0" anchor="ctr"/>
          <a:lstStyle/>
          <a:p>
            <a:pPr indent="0" marL="0">
              <a:buNone/>
            </a:pPr>
            <a:r>
              <a:rPr lang="en-US" sz="1100" b="1" spc="200" kern="0" dirty="0">
                <a:solidFill>
                  <a:srgbClr val="44E0CB"/>
                </a:solidFill>
                <a:latin typeface="Aptos" pitchFamily="34" charset="0"/>
                <a:ea typeface="Aptos" pitchFamily="34" charset="-122"/>
                <a:cs typeface="Aptos" pitchFamily="34" charset="-120"/>
              </a:rPr>
              <a:t>07 / CLOSING</a:t>
            </a:r>
            <a:endParaRPr lang="en-US" sz="1100" dirty="0"/>
          </a:p>
        </p:txBody>
      </p:sp>
      <p:sp>
        <p:nvSpPr>
          <p:cNvPr id="4" name="Text 2"/>
          <p:cNvSpPr/>
          <p:nvPr/>
        </p:nvSpPr>
        <p:spPr>
          <a:xfrm>
            <a:off x="566928" y="768096"/>
            <a:ext cx="10972800" cy="685800"/>
          </a:xfrm>
          <a:prstGeom prst="rect">
            <a:avLst/>
          </a:prstGeom>
          <a:noFill/>
          <a:ln/>
        </p:spPr>
        <p:txBody>
          <a:bodyPr wrap="square" lIns="0" tIns="0" rIns="0" bIns="0" rtlCol="0" anchor="ctr"/>
          <a:lstStyle/>
          <a:p>
            <a:pPr indent="0" marL="0">
              <a:buNone/>
            </a:pPr>
            <a:r>
              <a:rPr lang="en-US" sz="3100" b="1" dirty="0">
                <a:solidFill>
                  <a:srgbClr val="F4F7FB"/>
                </a:solidFill>
                <a:latin typeface="Aptos" pitchFamily="34" charset="0"/>
                <a:ea typeface="Aptos" pitchFamily="34" charset="-122"/>
                <a:cs typeface="Aptos" pitchFamily="34" charset="-120"/>
              </a:rPr>
              <a:t>Research intelligence you can challenge and trust.</a:t>
            </a:r>
            <a:endParaRPr lang="en-US" sz="3100" dirty="0"/>
          </a:p>
        </p:txBody>
      </p:sp>
      <p:sp>
        <p:nvSpPr>
          <p:cNvPr id="5" name="Text 3"/>
          <p:cNvSpPr/>
          <p:nvPr/>
        </p:nvSpPr>
        <p:spPr>
          <a:xfrm>
            <a:off x="585216" y="1499616"/>
            <a:ext cx="10789920" cy="493776"/>
          </a:xfrm>
          <a:prstGeom prst="rect">
            <a:avLst/>
          </a:prstGeom>
          <a:noFill/>
          <a:ln/>
        </p:spPr>
        <p:txBody>
          <a:bodyPr wrap="square" lIns="0" tIns="0" rIns="0" bIns="0" rtlCol="0" anchor="ctr"/>
          <a:lstStyle/>
          <a:p>
            <a:pPr indent="0" marL="0">
              <a:buNone/>
            </a:pPr>
            <a:r>
              <a:rPr lang="en-US" sz="1500" dirty="0">
                <a:solidFill>
                  <a:srgbClr val="A6B6CB"/>
                </a:solidFill>
                <a:latin typeface="Aptos" pitchFamily="34" charset="0"/>
                <a:ea typeface="Aptos" pitchFamily="34" charset="-122"/>
                <a:cs typeface="Aptos" pitchFamily="34" charset="-120"/>
              </a:rPr>
              <a:t>Our differentiator is not a faster answer. It is an auditable path from evidence to conclusion.</a:t>
            </a:r>
            <a:endParaRPr lang="en-US" sz="1500" dirty="0"/>
          </a:p>
        </p:txBody>
      </p:sp>
      <p:sp>
        <p:nvSpPr>
          <p:cNvPr id="6" name="Shape 4"/>
          <p:cNvSpPr/>
          <p:nvPr/>
        </p:nvSpPr>
        <p:spPr>
          <a:xfrm>
            <a:off x="576072" y="6473952"/>
            <a:ext cx="11018520" cy="0"/>
          </a:xfrm>
          <a:prstGeom prst="line">
            <a:avLst/>
          </a:prstGeom>
          <a:noFill/>
          <a:ln w="12700">
            <a:solidFill>
              <a:srgbClr val="30425E"/>
            </a:solidFill>
            <a:prstDash val="solid"/>
          </a:ln>
        </p:spPr>
      </p:sp>
      <p:sp>
        <p:nvSpPr>
          <p:cNvPr id="7" name="Text 5"/>
          <p:cNvSpPr/>
          <p:nvPr/>
        </p:nvSpPr>
        <p:spPr>
          <a:xfrm>
            <a:off x="585216" y="6528816"/>
            <a:ext cx="7315200" cy="146304"/>
          </a:xfrm>
          <a:prstGeom prst="rect">
            <a:avLst/>
          </a:prstGeom>
          <a:noFill/>
          <a:ln/>
        </p:spPr>
        <p:txBody>
          <a:bodyPr wrap="square" lIns="0" tIns="0" rIns="0" bIns="0" rtlCol="0" anchor="ctr"/>
          <a:lstStyle/>
          <a:p>
            <a:pPr indent="0" marL="0">
              <a:buNone/>
            </a:pPr>
            <a:r>
              <a:rPr lang="en-US" sz="900" b="1" spc="100" kern="0" dirty="0">
                <a:solidFill>
                  <a:srgbClr val="A6B6CB"/>
                </a:solidFill>
                <a:latin typeface="Aptos" pitchFamily="34" charset="0"/>
                <a:ea typeface="Aptos" pitchFamily="34" charset="-122"/>
                <a:cs typeface="Aptos" pitchFamily="34" charset="-120"/>
              </a:rPr>
              <a:t>COHORTLENS  •  PRODUCT PITCH</a:t>
            </a:r>
            <a:endParaRPr lang="en-US" sz="900" dirty="0"/>
          </a:p>
        </p:txBody>
      </p:sp>
      <p:sp>
        <p:nvSpPr>
          <p:cNvPr id="8" name="Text 6"/>
          <p:cNvSpPr/>
          <p:nvPr/>
        </p:nvSpPr>
        <p:spPr>
          <a:xfrm>
            <a:off x="11109960" y="6510528"/>
            <a:ext cx="429768" cy="182880"/>
          </a:xfrm>
          <a:prstGeom prst="rect">
            <a:avLst/>
          </a:prstGeom>
          <a:noFill/>
          <a:ln/>
        </p:spPr>
        <p:txBody>
          <a:bodyPr wrap="square" lIns="0" tIns="0" rIns="0" bIns="0" rtlCol="0" anchor="ctr"/>
          <a:lstStyle/>
          <a:p>
            <a:pPr algn="r" indent="0" marL="0">
              <a:buNone/>
            </a:pPr>
            <a:r>
              <a:rPr lang="en-US" sz="1000" b="1" dirty="0">
                <a:solidFill>
                  <a:srgbClr val="A6B6CB"/>
                </a:solidFill>
                <a:latin typeface="Aptos" pitchFamily="34" charset="0"/>
                <a:ea typeface="Aptos" pitchFamily="34" charset="-122"/>
                <a:cs typeface="Aptos" pitchFamily="34" charset="-120"/>
              </a:rPr>
              <a:t>08</a:t>
            </a:r>
            <a:endParaRPr lang="en-US" sz="1000" dirty="0"/>
          </a:p>
        </p:txBody>
      </p:sp>
      <p:sp>
        <p:nvSpPr>
          <p:cNvPr id="9" name="Text 7"/>
          <p:cNvSpPr/>
          <p:nvPr/>
        </p:nvSpPr>
        <p:spPr>
          <a:xfrm>
            <a:off x="758952" y="2212848"/>
            <a:ext cx="10424160" cy="886968"/>
          </a:xfrm>
          <a:prstGeom prst="rect">
            <a:avLst/>
          </a:prstGeom>
          <a:noFill/>
          <a:ln/>
        </p:spPr>
        <p:txBody>
          <a:bodyPr wrap="square" lIns="0" tIns="0" rIns="0" bIns="0" rtlCol="0" anchor="ctr"/>
          <a:lstStyle/>
          <a:p>
            <a:pPr indent="0" marL="0">
              <a:buNone/>
            </a:pPr>
            <a:r>
              <a:rPr lang="en-US" sz="4900" b="1" dirty="0">
                <a:solidFill>
                  <a:srgbClr val="F4F7FB"/>
                </a:solidFill>
                <a:latin typeface="Aptos" pitchFamily="34" charset="0"/>
                <a:ea typeface="Aptos" pitchFamily="34" charset="-122"/>
                <a:cs typeface="Aptos" pitchFamily="34" charset="-120"/>
              </a:rPr>
              <a:t>CohortLens</a:t>
            </a:r>
            <a:endParaRPr lang="en-US" sz="4900" dirty="0"/>
          </a:p>
        </p:txBody>
      </p:sp>
      <p:sp>
        <p:nvSpPr>
          <p:cNvPr id="10" name="Text 8"/>
          <p:cNvSpPr/>
          <p:nvPr/>
        </p:nvSpPr>
        <p:spPr>
          <a:xfrm>
            <a:off x="795528" y="3383280"/>
            <a:ext cx="9784080" cy="502920"/>
          </a:xfrm>
          <a:prstGeom prst="rect">
            <a:avLst/>
          </a:prstGeom>
          <a:noFill/>
          <a:ln/>
        </p:spPr>
        <p:txBody>
          <a:bodyPr wrap="square" lIns="0" tIns="0" rIns="0" bIns="0" rtlCol="0" anchor="ctr"/>
          <a:lstStyle/>
          <a:p>
            <a:pPr indent="0" marL="0">
              <a:buNone/>
            </a:pPr>
            <a:r>
              <a:rPr lang="en-US" sz="3000" b="1" dirty="0">
                <a:solidFill>
                  <a:srgbClr val="44E0CB"/>
                </a:solidFill>
                <a:latin typeface="Aptos" pitchFamily="34" charset="0"/>
                <a:ea typeface="Aptos" pitchFamily="34" charset="-122"/>
                <a:cs typeface="Aptos" pitchFamily="34" charset="-120"/>
              </a:rPr>
              <a:t>See the patterns.</a:t>
            </a:r>
            <a:endParaRPr lang="en-US" sz="3000" dirty="0"/>
          </a:p>
        </p:txBody>
      </p:sp>
      <p:sp>
        <p:nvSpPr>
          <p:cNvPr id="11" name="Text 9"/>
          <p:cNvSpPr/>
          <p:nvPr/>
        </p:nvSpPr>
        <p:spPr>
          <a:xfrm>
            <a:off x="795528" y="3913632"/>
            <a:ext cx="9784080" cy="539496"/>
          </a:xfrm>
          <a:prstGeom prst="rect">
            <a:avLst/>
          </a:prstGeom>
          <a:noFill/>
          <a:ln/>
        </p:spPr>
        <p:txBody>
          <a:bodyPr wrap="square" lIns="0" tIns="0" rIns="0" bIns="0" rtlCol="0" anchor="ctr"/>
          <a:lstStyle/>
          <a:p>
            <a:pPr indent="0" marL="0">
              <a:buNone/>
            </a:pPr>
            <a:r>
              <a:rPr lang="en-US" sz="3000" b="1" dirty="0">
                <a:solidFill>
                  <a:srgbClr val="F4F7FB"/>
                </a:solidFill>
                <a:latin typeface="Aptos" pitchFamily="34" charset="0"/>
                <a:ea typeface="Aptos" pitchFamily="34" charset="-122"/>
                <a:cs typeface="Aptos" pitchFamily="34" charset="-120"/>
              </a:rPr>
              <a:t>Trust the evidence.</a:t>
            </a:r>
            <a:endParaRPr lang="en-US" sz="3000" dirty="0"/>
          </a:p>
        </p:txBody>
      </p:sp>
      <p:sp>
        <p:nvSpPr>
          <p:cNvPr id="12" name="Shape 10"/>
          <p:cNvSpPr/>
          <p:nvPr/>
        </p:nvSpPr>
        <p:spPr>
          <a:xfrm>
            <a:off x="795528" y="4965192"/>
            <a:ext cx="10552176" cy="685800"/>
          </a:xfrm>
          <a:prstGeom prst="roundRect">
            <a:avLst>
              <a:gd name="adj" fmla="val 21333"/>
            </a:avLst>
          </a:prstGeom>
          <a:solidFill>
            <a:srgbClr val="132039"/>
          </a:solidFill>
          <a:ln w="12700">
            <a:solidFill>
              <a:srgbClr val="132039"/>
            </a:solidFill>
            <a:prstDash val="solid"/>
          </a:ln>
        </p:spPr>
      </p:sp>
      <p:sp>
        <p:nvSpPr>
          <p:cNvPr id="13" name="Text 11"/>
          <p:cNvSpPr/>
          <p:nvPr/>
        </p:nvSpPr>
        <p:spPr>
          <a:xfrm>
            <a:off x="1051560" y="5138928"/>
            <a:ext cx="10030968" cy="338328"/>
          </a:xfrm>
          <a:prstGeom prst="rect">
            <a:avLst/>
          </a:prstGeom>
          <a:noFill/>
          <a:ln/>
        </p:spPr>
        <p:txBody>
          <a:bodyPr wrap="square" lIns="0" tIns="0" rIns="0" bIns="0" rtlCol="0" anchor="ctr"/>
          <a:lstStyle/>
          <a:p>
            <a:pPr indent="0" marL="0">
              <a:buNone/>
            </a:pPr>
            <a:r>
              <a:rPr lang="en-US" sz="1500" b="1" dirty="0">
                <a:solidFill>
                  <a:srgbClr val="F4F7FB"/>
                </a:solidFill>
                <a:latin typeface="Aptos" pitchFamily="34" charset="0"/>
                <a:ea typeface="Aptos" pitchFamily="34" charset="-122"/>
                <a:cs typeface="Aptos" pitchFamily="34" charset="-120"/>
              </a:rPr>
              <a:t>THE ASK   Pilot with synthetic or appropriately de-identified records and a clinician-reviewed gold standard.</a:t>
            </a:r>
            <a:endParaRPr lang="en-US" sz="1500" dirty="0"/>
          </a:p>
        </p:txBody>
      </p:sp>
      <p:sp>
        <p:nvSpPr>
          <p:cNvPr id="14" name="Text 12"/>
          <p:cNvSpPr/>
          <p:nvPr/>
        </p:nvSpPr>
        <p:spPr>
          <a:xfrm>
            <a:off x="822960" y="5980176"/>
            <a:ext cx="10789920" cy="310896"/>
          </a:xfrm>
          <a:prstGeom prst="rect">
            <a:avLst/>
          </a:prstGeom>
          <a:noFill/>
          <a:ln/>
        </p:spPr>
        <p:txBody>
          <a:bodyPr wrap="square" lIns="0" tIns="0" rIns="0" bIns="0" rtlCol="0" anchor="ctr"/>
          <a:lstStyle/>
          <a:p>
            <a:pPr indent="0" marL="0">
              <a:buNone/>
            </a:pPr>
            <a:r>
              <a:rPr lang="en-US" sz="1600" b="1" dirty="0">
                <a:solidFill>
                  <a:srgbClr val="A6B6CB"/>
                </a:solidFill>
                <a:latin typeface="Aptos" pitchFamily="34" charset="0"/>
                <a:ea typeface="Aptos" pitchFamily="34" charset="-122"/>
                <a:cs typeface="Aptos" pitchFamily="34" charset="-120"/>
              </a:rPr>
              <a:t>AI delivers speed. Evidence verification builds trust.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CohortLens | Clinical Research Intelligence, Verified</dc:title>
  <dc:subject>CohortLens product pitch</dc:subject>
  <dc:creator>CohortLens</dc:creator>
  <cp:lastModifiedBy>CohortLens</cp:lastModifiedBy>
  <cp:revision>1</cp:revision>
  <dcterms:created xsi:type="dcterms:W3CDTF">2026-10-27T02:54:09Z</dcterms:created>
  <dcterms:modified xsi:type="dcterms:W3CDTF">2026-10-27T02:54:09Z</dcterms:modified>
</cp:coreProperties>
</file>